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sldIdLst>
    <p:sldId id="256" r:id="rId2"/>
    <p:sldId id="374" r:id="rId3"/>
    <p:sldId id="375" r:id="rId4"/>
    <p:sldId id="376" r:id="rId5"/>
    <p:sldId id="257" r:id="rId6"/>
    <p:sldId id="372" r:id="rId7"/>
    <p:sldId id="373" r:id="rId8"/>
    <p:sldId id="368" r:id="rId9"/>
    <p:sldId id="369" r:id="rId10"/>
    <p:sldId id="370" r:id="rId11"/>
    <p:sldId id="377" r:id="rId12"/>
    <p:sldId id="378" r:id="rId13"/>
    <p:sldId id="3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7" d="100"/>
          <a:sy n="117" d="100"/>
        </p:scale>
        <p:origin x="3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p:cNvSpPr txBox="1"/>
          <p:nvPr/>
        </p:nvSpPr>
        <p:spPr>
          <a:xfrm>
            <a:off x="789712" y="253061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7030A0"/>
                </a:solidFill>
                <a:latin typeface="Verdana" panose="020B0604030504040204" pitchFamily="34" charset="0"/>
                <a:ea typeface="+mn-ea"/>
                <a:cs typeface="+mn-cs"/>
              </a:rPr>
              <a:t>Real-Time Ingredient Recognition and Recipe Generator  </a:t>
            </a:r>
          </a:p>
        </p:txBody>
      </p:sp>
      <p:sp>
        <p:nvSpPr>
          <p:cNvPr id="10" name="TextBox 1"/>
          <p:cNvSpPr txBox="1">
            <a:spLocks noChangeArrowheads="1"/>
          </p:cNvSpPr>
          <p:nvPr/>
        </p:nvSpPr>
        <p:spPr bwMode="auto">
          <a:xfrm>
            <a:off x="962888" y="5183902"/>
            <a:ext cx="48010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ctr">
              <a:spcBef>
                <a:spcPct val="0"/>
              </a:spcBef>
              <a:buClrTx/>
              <a:buFontTx/>
              <a:buNone/>
            </a:pPr>
            <a:r>
              <a:rPr lang="en-IN" altLang="en-US" sz="2000" b="1" dirty="0" err="1">
                <a:solidFill>
                  <a:srgbClr val="FF0000"/>
                </a:solidFill>
              </a:rPr>
              <a:t>Mrs.Y.Nirmala</a:t>
            </a:r>
            <a:r>
              <a:rPr lang="en-IN" altLang="en-US" sz="2000" b="1" dirty="0">
                <a:solidFill>
                  <a:srgbClr val="FF0000"/>
                </a:solidFill>
              </a:rPr>
              <a:t> Anandhi </a:t>
            </a:r>
          </a:p>
        </p:txBody>
      </p:sp>
      <p:sp>
        <p:nvSpPr>
          <p:cNvPr id="11" name="TextBox 1"/>
          <p:cNvSpPr txBox="1">
            <a:spLocks noChangeArrowheads="1"/>
          </p:cNvSpPr>
          <p:nvPr/>
        </p:nvSpPr>
        <p:spPr bwMode="auto">
          <a:xfrm>
            <a:off x="7130143" y="5183902"/>
            <a:ext cx="506185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rPr>
              <a:t>Sanjay B (221801045)</a:t>
            </a:r>
          </a:p>
          <a:p>
            <a:pPr>
              <a:spcBef>
                <a:spcPct val="0"/>
              </a:spcBef>
              <a:buClrTx/>
              <a:buFontTx/>
              <a:buNone/>
            </a:pPr>
            <a:r>
              <a:rPr lang="en-IN" altLang="en-US" sz="2000" b="1" dirty="0">
                <a:solidFill>
                  <a:srgbClr val="FF0000"/>
                </a:solidFill>
              </a:rPr>
              <a:t>Soorya B (221801051)</a:t>
            </a:r>
          </a:p>
          <a:p>
            <a:pPr>
              <a:spcBef>
                <a:spcPct val="0"/>
              </a:spcBef>
              <a:buClrTx/>
              <a:buFontTx/>
              <a:buNone/>
            </a:pPr>
            <a:r>
              <a:rPr lang="en-IN" altLang="en-US" sz="2000" b="1" dirty="0" err="1">
                <a:solidFill>
                  <a:srgbClr val="FF0000"/>
                </a:solidFill>
              </a:rPr>
              <a:t>Thofiq</a:t>
            </a:r>
            <a:r>
              <a:rPr lang="en-IN" altLang="en-US" sz="2000" b="1" dirty="0">
                <a:solidFill>
                  <a:srgbClr val="FF0000"/>
                </a:solidFill>
              </a:rPr>
              <a:t> Gani M (221801057)</a:t>
            </a: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a:t>
            </a:r>
            <a:r>
              <a:rPr lang="en-US" altLang="en-IN" sz="2800" b="1" dirty="0">
                <a:solidFill>
                  <a:srgbClr val="002060"/>
                </a:solidFill>
                <a:latin typeface="Verdana" panose="020B0604030504040204" pitchFamily="34" charset="0"/>
                <a:ea typeface="+mn-ea"/>
                <a:cs typeface="+mn-cs"/>
              </a:rPr>
              <a:t> Artificial Intelligence and Data Science</a:t>
            </a:r>
            <a:r>
              <a:rPr lang="en-IN" sz="2800" b="1" dirty="0">
                <a:solidFill>
                  <a:srgbClr val="002060"/>
                </a:solidFill>
                <a:latin typeface="Verdana" panose="020B0604030504040204" pitchFamily="34" charset="0"/>
                <a:ea typeface="+mn-ea"/>
                <a:cs typeface="+mn-cs"/>
              </a:rPr>
              <a:t> </a:t>
            </a:r>
          </a:p>
        </p:txBody>
      </p:sp>
      <p:pic>
        <p:nvPicPr>
          <p:cNvPr id="8" name="Picture 1"/>
          <p:cNvPicPr>
            <a:picLocks noChangeAspect="1"/>
          </p:cNvPicPr>
          <p:nvPr/>
        </p:nvPicPr>
        <p:blipFill>
          <a:blip r:embed="rId4"/>
          <a:stretch>
            <a:fillRect/>
          </a:stretch>
        </p:blipFill>
        <p:spPr>
          <a:xfrm>
            <a:off x="151765" y="149225"/>
            <a:ext cx="2769235" cy="10541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Introduction and Overview of the Project</a:t>
            </a:r>
            <a:endParaRPr lang="en-IN" sz="2800" dirty="0"/>
          </a:p>
        </p:txBody>
      </p:sp>
      <p:sp>
        <p:nvSpPr>
          <p:cNvPr id="3" name="Content Placeholder 2"/>
          <p:cNvSpPr>
            <a:spLocks noGrp="1"/>
          </p:cNvSpPr>
          <p:nvPr>
            <p:ph idx="1"/>
          </p:nvPr>
        </p:nvSpPr>
        <p:spPr/>
        <p:txBody>
          <a:bodyPr/>
          <a:lstStyle/>
          <a:p>
            <a:pPr marL="0" indent="0">
              <a:buNone/>
            </a:pPr>
            <a:r>
              <a:rPr lang="en-IN" sz="1600" b="1" dirty="0"/>
              <a:t>Introduction:</a:t>
            </a:r>
            <a:endParaRPr lang="en-US" sz="1600" b="1" dirty="0"/>
          </a:p>
          <a:p>
            <a:pPr marL="0" indent="0">
              <a:buNone/>
            </a:pPr>
            <a:r>
              <a:rPr lang="en-US" sz="1600" dirty="0"/>
              <a:t>This project develops a smart, real-time culinary assistant. It automatically identifies food ingredients from an image using advanced computer vision. The system then instantly generates a detailed and relevant cooking recipe. This dual-model approach aims to simplify meal planning and reduce food waste. It combines image detection with natural language processing for an intuitive user experience.</a:t>
            </a:r>
          </a:p>
          <a:p>
            <a:pPr marL="0" indent="0">
              <a:buNone/>
            </a:pPr>
            <a:endParaRPr lang="en-US" sz="1600" dirty="0"/>
          </a:p>
          <a:p>
            <a:pPr marL="0" indent="0">
              <a:buNone/>
            </a:pPr>
            <a:r>
              <a:rPr lang="en-US" sz="1600" b="1" dirty="0"/>
              <a:t>Overview of the Projects:</a:t>
            </a:r>
          </a:p>
          <a:p>
            <a:r>
              <a:rPr lang="en-US" sz="1600" b="1" dirty="0"/>
              <a:t>Ingredient Recognition:</a:t>
            </a:r>
            <a:r>
              <a:rPr lang="en-US" sz="1600" dirty="0"/>
              <a:t> A </a:t>
            </a:r>
            <a:r>
              <a:rPr lang="en-US" sz="1600" b="1" dirty="0"/>
              <a:t>YOLOv12</a:t>
            </a:r>
            <a:r>
              <a:rPr lang="en-US" sz="1600" dirty="0"/>
              <a:t> model detects and lists all visible ingredients from the input image in real-time.</a:t>
            </a:r>
          </a:p>
          <a:p>
            <a:r>
              <a:rPr lang="en-US" sz="1600" b="1" dirty="0"/>
              <a:t>Recipe Generation:</a:t>
            </a:r>
            <a:r>
              <a:rPr lang="en-US" sz="1600" dirty="0"/>
              <a:t> The list of ingredients is passed to a </a:t>
            </a:r>
            <a:r>
              <a:rPr lang="en-US" sz="1600" b="1" dirty="0"/>
              <a:t>BERT-based model</a:t>
            </a:r>
            <a:r>
              <a:rPr lang="en-US" sz="1600" dirty="0"/>
              <a:t>.</a:t>
            </a:r>
          </a:p>
          <a:p>
            <a:r>
              <a:rPr lang="en-US" sz="1600" b="1" dirty="0"/>
              <a:t>Data Source:</a:t>
            </a:r>
            <a:r>
              <a:rPr lang="en-US" sz="1600" dirty="0"/>
              <a:t> The BERT model uses a large </a:t>
            </a:r>
            <a:r>
              <a:rPr lang="en-US" sz="1600" b="1" dirty="0"/>
              <a:t>CSV file</a:t>
            </a:r>
            <a:r>
              <a:rPr lang="en-US" sz="1600" dirty="0"/>
              <a:t> containing structured recipe data for generation.</a:t>
            </a:r>
          </a:p>
          <a:p>
            <a:r>
              <a:rPr lang="en-US" sz="1600" b="1" dirty="0"/>
              <a:t>Process:</a:t>
            </a:r>
            <a:r>
              <a:rPr lang="en-US" sz="1600" dirty="0"/>
              <a:t> The model predicts a complete, step-by-step recipe based on the provided ingredients.</a:t>
            </a:r>
          </a:p>
          <a:p>
            <a:r>
              <a:rPr lang="en-US" sz="1600" b="1" dirty="0"/>
              <a:t>Goal:</a:t>
            </a:r>
            <a:r>
              <a:rPr lang="en-US" sz="1600" dirty="0"/>
              <a:t> To provide an instant, tailored recipe for users based on what they currently have.</a:t>
            </a:r>
          </a:p>
          <a:p>
            <a:pPr marL="0" indent="0">
              <a:buNone/>
            </a:pPr>
            <a:endParaRPr lang="en-US" sz="1600" b="1" dirty="0"/>
          </a:p>
          <a:p>
            <a:pPr marL="0" indent="0" algn="just">
              <a:buNone/>
            </a:pPr>
            <a:endParaRPr lang="en-IN" sz="1200" b="1" dirty="0"/>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Existing System</a:t>
            </a:r>
            <a:endParaRPr lang="en-IN" sz="2800" dirty="0"/>
          </a:p>
        </p:txBody>
      </p:sp>
      <p:sp>
        <p:nvSpPr>
          <p:cNvPr id="3" name="Content Placeholder 2"/>
          <p:cNvSpPr>
            <a:spLocks noGrp="1"/>
          </p:cNvSpPr>
          <p:nvPr>
            <p:ph idx="1"/>
          </p:nvPr>
        </p:nvSpPr>
        <p:spPr/>
        <p:txBody>
          <a:bodyPr/>
          <a:lstStyle/>
          <a:p>
            <a:pPr algn="just"/>
            <a:r>
              <a:rPr lang="en-US" sz="2000" b="1" dirty="0"/>
              <a:t>Manual Ingredient Input:</a:t>
            </a:r>
            <a:r>
              <a:rPr lang="en-US" sz="2000" dirty="0"/>
              <a:t> Most apps require users to </a:t>
            </a:r>
            <a:r>
              <a:rPr lang="en-US" sz="2000" b="1" dirty="0"/>
              <a:t>type ingredients manually</a:t>
            </a:r>
            <a:r>
              <a:rPr lang="en-US" sz="2000" dirty="0"/>
              <a:t>, which is time-consuming and prone to errors.</a:t>
            </a:r>
          </a:p>
          <a:p>
            <a:pPr algn="just"/>
            <a:r>
              <a:rPr lang="en-US" sz="2000" b="1" dirty="0"/>
              <a:t>No Real-Time Detection:</a:t>
            </a:r>
            <a:r>
              <a:rPr lang="en-US" sz="2000" dirty="0"/>
              <a:t> Lack of </a:t>
            </a:r>
            <a:r>
              <a:rPr lang="en-US" sz="2000" b="1" dirty="0"/>
              <a:t>live camera-based recognition</a:t>
            </a:r>
            <a:r>
              <a:rPr lang="en-US" sz="2000" dirty="0"/>
              <a:t>, forcing users to search recipes separately after checking ingredients.</a:t>
            </a:r>
          </a:p>
          <a:p>
            <a:pPr algn="just"/>
            <a:r>
              <a:rPr lang="en-US" sz="2000" b="1" dirty="0"/>
              <a:t>No AI-Powered Suggestions:</a:t>
            </a:r>
            <a:r>
              <a:rPr lang="en-US" sz="2000" dirty="0"/>
              <a:t> Systems rely on </a:t>
            </a:r>
            <a:r>
              <a:rPr lang="en-US" sz="2000" b="1" dirty="0"/>
              <a:t>keyword matching</a:t>
            </a:r>
            <a:r>
              <a:rPr lang="en-US" sz="2000" dirty="0"/>
              <a:t> instead of smart, context-aware recipe recommendations.</a:t>
            </a:r>
          </a:p>
          <a:p>
            <a:pPr algn="just"/>
            <a:r>
              <a:rPr lang="en-US" sz="2000" b="1" dirty="0"/>
              <a:t>Static Recipe Databases:</a:t>
            </a:r>
            <a:r>
              <a:rPr lang="en-US" sz="2000" dirty="0"/>
              <a:t> Recipes are </a:t>
            </a:r>
            <a:r>
              <a:rPr lang="en-US" sz="2000" b="1" dirty="0"/>
              <a:t>pre-defined</a:t>
            </a:r>
            <a:r>
              <a:rPr lang="en-US" sz="2000" dirty="0"/>
              <a:t>, not dynamically generated based on detected ingredients, limiting flexibility.</a:t>
            </a:r>
          </a:p>
          <a:p>
            <a:pPr algn="just"/>
            <a:r>
              <a:rPr lang="en-US" sz="2000" b="1" dirty="0"/>
              <a:t>No Waste Reduction Focus:</a:t>
            </a:r>
            <a:r>
              <a:rPr lang="en-US" sz="2000" dirty="0"/>
              <a:t> Most platforms don’t prioritize </a:t>
            </a:r>
            <a:r>
              <a:rPr lang="en-US" sz="2000" b="1" dirty="0"/>
              <a:t>expiring or leftover ingredients</a:t>
            </a:r>
            <a:r>
              <a:rPr lang="en-US" sz="2000" dirty="0"/>
              <a:t>, missing sustainability opportunities.</a:t>
            </a:r>
          </a:p>
          <a:p>
            <a:pPr algn="just"/>
            <a:endParaRPr lang="en-US" sz="2000" dirty="0"/>
          </a:p>
          <a:p>
            <a:pPr algn="just"/>
            <a:endParaRPr lang="en-US" sz="2000" dirty="0"/>
          </a:p>
          <a:p>
            <a:endParaRPr lang="en-US" sz="2000" dirty="0"/>
          </a:p>
          <a:p>
            <a:endParaRPr lang="en-US" sz="2000" dirty="0"/>
          </a:p>
          <a:p>
            <a:pPr marL="0" indent="0">
              <a:buNone/>
            </a:pPr>
            <a:endParaRPr lang="en-IN" dirty="0"/>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2743-9447-7B09-CA61-16D32E285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C83FF-1621-16ED-0755-17F36080723B}"/>
              </a:ext>
            </a:extLst>
          </p:cNvPr>
          <p:cNvSpPr>
            <a:spLocks noGrp="1"/>
          </p:cNvSpPr>
          <p:nvPr>
            <p:ph type="title"/>
          </p:nvPr>
        </p:nvSpPr>
        <p:spPr/>
        <p:txBody>
          <a:bodyPr/>
          <a:lstStyle/>
          <a:p>
            <a:r>
              <a:rPr lang="en-IN" sz="3200" b="1" dirty="0">
                <a:solidFill>
                  <a:srgbClr val="FF0000"/>
                </a:solidFill>
              </a:rPr>
              <a:t>Project Objective and Scopes</a:t>
            </a:r>
            <a:endParaRPr lang="en-IN" sz="2800" dirty="0"/>
          </a:p>
        </p:txBody>
      </p:sp>
      <p:sp>
        <p:nvSpPr>
          <p:cNvPr id="3" name="Content Placeholder 2">
            <a:extLst>
              <a:ext uri="{FF2B5EF4-FFF2-40B4-BE49-F238E27FC236}">
                <a16:creationId xmlns:a16="http://schemas.microsoft.com/office/drawing/2014/main" id="{9A7588BE-3739-3486-F682-E15EB09C47AD}"/>
              </a:ext>
            </a:extLst>
          </p:cNvPr>
          <p:cNvSpPr>
            <a:spLocks noGrp="1"/>
          </p:cNvSpPr>
          <p:nvPr>
            <p:ph idx="1"/>
          </p:nvPr>
        </p:nvSpPr>
        <p:spPr/>
        <p:txBody>
          <a:bodyPr/>
          <a:lstStyle/>
          <a:p>
            <a:pPr marL="0" indent="0">
              <a:buNone/>
            </a:pPr>
            <a:r>
              <a:rPr lang="en-US" sz="1600" b="1" dirty="0"/>
              <a:t>Project Objective:</a:t>
            </a:r>
          </a:p>
          <a:p>
            <a:r>
              <a:rPr lang="en-US" sz="1600" dirty="0"/>
              <a:t>To develop a real-time system for identifying food ingredients from an image.</a:t>
            </a:r>
          </a:p>
          <a:p>
            <a:r>
              <a:rPr lang="en-US" sz="1600" dirty="0"/>
              <a:t>To instantly generate a complete, functional cooking recipe based on the detected ingredients.</a:t>
            </a:r>
          </a:p>
          <a:p>
            <a:r>
              <a:rPr lang="en-US" sz="1600" dirty="0"/>
              <a:t>To simplify meal planning and reduce food waste by leveraging available ingredients.</a:t>
            </a:r>
          </a:p>
          <a:p>
            <a:r>
              <a:rPr lang="en-US" sz="1600" dirty="0"/>
              <a:t>To create a practical and accessible cooking assistant for all user skill levels.</a:t>
            </a:r>
          </a:p>
          <a:p>
            <a:endParaRPr lang="en-US" sz="1600" dirty="0"/>
          </a:p>
          <a:p>
            <a:pPr marL="0" indent="0">
              <a:buNone/>
            </a:pPr>
            <a:r>
              <a:rPr lang="en-US" sz="1600" b="1" dirty="0"/>
              <a:t>Project Scope:</a:t>
            </a:r>
          </a:p>
          <a:p>
            <a:r>
              <a:rPr lang="en-US" sz="1600" b="1" dirty="0"/>
              <a:t>Computer Vision (CV):</a:t>
            </a:r>
            <a:r>
              <a:rPr lang="en-US" sz="1600" dirty="0"/>
              <a:t> Implement and train a </a:t>
            </a:r>
            <a:r>
              <a:rPr lang="en-US" sz="1600" b="1" dirty="0"/>
              <a:t>YOLOv12</a:t>
            </a:r>
            <a:r>
              <a:rPr lang="en-US" sz="1600" dirty="0"/>
              <a:t> model for real-time object detection of a defined set of common ingredients.</a:t>
            </a:r>
          </a:p>
          <a:p>
            <a:r>
              <a:rPr lang="en-US" sz="1600" b="1" dirty="0"/>
              <a:t>Natural Language Processing (NLP):</a:t>
            </a:r>
            <a:r>
              <a:rPr lang="en-US" sz="1600" dirty="0"/>
              <a:t> Utilize and fine-tune a </a:t>
            </a:r>
            <a:r>
              <a:rPr lang="en-US" sz="1600" b="1" dirty="0"/>
              <a:t>BERT-based model</a:t>
            </a:r>
            <a:r>
              <a:rPr lang="en-US" sz="1600" dirty="0"/>
              <a:t> for sequence-to-text recipe generation.</a:t>
            </a:r>
          </a:p>
          <a:p>
            <a:r>
              <a:rPr lang="en-US" sz="1600" b="1" dirty="0"/>
              <a:t>Data:</a:t>
            </a:r>
            <a:r>
              <a:rPr lang="en-US" sz="1600" dirty="0"/>
              <a:t> Recipe generation will rely exclusively on a pre-processed </a:t>
            </a:r>
            <a:r>
              <a:rPr lang="en-US" sz="1600" b="1" dirty="0"/>
              <a:t>CSV file</a:t>
            </a:r>
            <a:r>
              <a:rPr lang="en-US" sz="1600" dirty="0"/>
              <a:t> dataset.</a:t>
            </a:r>
          </a:p>
          <a:p>
            <a:r>
              <a:rPr lang="en-US" sz="1600" b="1" dirty="0"/>
              <a:t>Output:</a:t>
            </a:r>
            <a:r>
              <a:rPr lang="en-US" sz="1600" dirty="0"/>
              <a:t> The system will generate a coherent, step-by-step recipe from the input ingredient list.</a:t>
            </a:r>
          </a:p>
          <a:p>
            <a:r>
              <a:rPr lang="en-US" sz="1600" b="1" dirty="0"/>
              <a:t>Deliverable:</a:t>
            </a:r>
            <a:r>
              <a:rPr lang="en-US" sz="1600" dirty="0"/>
              <a:t> A functional proof-of-concept application demonstrating the end-to-end workflow.</a:t>
            </a:r>
          </a:p>
          <a:p>
            <a:pPr marL="0" indent="0">
              <a:buNone/>
            </a:pPr>
            <a:endParaRPr lang="en-IN" sz="1600" b="1" dirty="0"/>
          </a:p>
        </p:txBody>
      </p:sp>
      <p:sp>
        <p:nvSpPr>
          <p:cNvPr id="4" name="Date Placeholder 3">
            <a:extLst>
              <a:ext uri="{FF2B5EF4-FFF2-40B4-BE49-F238E27FC236}">
                <a16:creationId xmlns:a16="http://schemas.microsoft.com/office/drawing/2014/main" id="{3C024C7B-0551-E431-AB8A-63BE80155E68}"/>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55847C2E-55F8-06C4-7E9A-E7765AB4A3FF}"/>
              </a:ext>
            </a:extLst>
          </p:cNvPr>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a:extLst>
              <a:ext uri="{FF2B5EF4-FFF2-40B4-BE49-F238E27FC236}">
                <a16:creationId xmlns:a16="http://schemas.microsoft.com/office/drawing/2014/main" id="{B387EC3D-92D5-FB8B-ECFD-F3E384545D22}"/>
              </a:ext>
            </a:extLst>
          </p:cNvPr>
          <p:cNvSpPr>
            <a:spLocks noGrp="1"/>
          </p:cNvSpPr>
          <p:nvPr>
            <p:ph type="sldNum" sz="quarter" idx="12"/>
          </p:nvPr>
        </p:nvSpPr>
        <p:spPr/>
        <p:txBody>
          <a:bodyPr/>
          <a:lstStyle/>
          <a:p>
            <a:fld id="{5AB9ECBD-B4DD-40D5-8D24-9ECCDBB1583E}" type="slidenum">
              <a:rPr lang="en-IN" smtClean="0"/>
              <a:t>4</a:t>
            </a:fld>
            <a:endParaRPr lang="en-IN"/>
          </a:p>
        </p:txBody>
      </p:sp>
    </p:spTree>
    <p:extLst>
      <p:ext uri="{BB962C8B-B14F-4D97-AF65-F5344CB8AC3E}">
        <p14:creationId xmlns:p14="http://schemas.microsoft.com/office/powerpoint/2010/main" val="2565265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Literature Survey</a:t>
            </a:r>
            <a:endParaRPr lang="en-IN" sz="2800" dirty="0"/>
          </a:p>
        </p:txBody>
      </p:sp>
      <p:graphicFrame>
        <p:nvGraphicFramePr>
          <p:cNvPr id="8" name="Content Placeholder 7">
            <a:extLst>
              <a:ext uri="{FF2B5EF4-FFF2-40B4-BE49-F238E27FC236}">
                <a16:creationId xmlns:a16="http://schemas.microsoft.com/office/drawing/2014/main" id="{0C580344-72B4-5E00-CDF4-417EA0DBB2C3}"/>
              </a:ext>
            </a:extLst>
          </p:cNvPr>
          <p:cNvGraphicFramePr>
            <a:graphicFrameLocks noGrp="1"/>
          </p:cNvGraphicFramePr>
          <p:nvPr>
            <p:ph idx="1"/>
            <p:extLst>
              <p:ext uri="{D42A27DB-BD31-4B8C-83A1-F6EECF244321}">
                <p14:modId xmlns:p14="http://schemas.microsoft.com/office/powerpoint/2010/main" val="287584573"/>
              </p:ext>
            </p:extLst>
          </p:nvPr>
        </p:nvGraphicFramePr>
        <p:xfrm>
          <a:off x="751114" y="1752599"/>
          <a:ext cx="10672536" cy="3901103"/>
        </p:xfrm>
        <a:graphic>
          <a:graphicData uri="http://schemas.openxmlformats.org/drawingml/2006/table">
            <a:tbl>
              <a:tblPr firstRow="1" bandRow="1">
                <a:tableStyleId>{5C22544A-7EE6-4342-B048-85BDC9FD1C3A}</a:tableStyleId>
              </a:tblPr>
              <a:tblGrid>
                <a:gridCol w="2881993">
                  <a:extLst>
                    <a:ext uri="{9D8B030D-6E8A-4147-A177-3AD203B41FA5}">
                      <a16:colId xmlns:a16="http://schemas.microsoft.com/office/drawing/2014/main" val="3477055001"/>
                    </a:ext>
                  </a:extLst>
                </a:gridCol>
                <a:gridCol w="2588079">
                  <a:extLst>
                    <a:ext uri="{9D8B030D-6E8A-4147-A177-3AD203B41FA5}">
                      <a16:colId xmlns:a16="http://schemas.microsoft.com/office/drawing/2014/main" val="3216852072"/>
                    </a:ext>
                  </a:extLst>
                </a:gridCol>
                <a:gridCol w="5202464">
                  <a:extLst>
                    <a:ext uri="{9D8B030D-6E8A-4147-A177-3AD203B41FA5}">
                      <a16:colId xmlns:a16="http://schemas.microsoft.com/office/drawing/2014/main" val="3937649435"/>
                    </a:ext>
                  </a:extLst>
                </a:gridCol>
              </a:tblGrid>
              <a:tr h="604231">
                <a:tc>
                  <a:txBody>
                    <a:bodyPr/>
                    <a:lstStyle/>
                    <a:p>
                      <a:pPr algn="ctr"/>
                      <a:r>
                        <a:rPr lang="en-US" b="1" dirty="0"/>
                        <a:t>Title</a:t>
                      </a:r>
                    </a:p>
                  </a:txBody>
                  <a:tcPr/>
                </a:tc>
                <a:tc>
                  <a:txBody>
                    <a:bodyPr/>
                    <a:lstStyle/>
                    <a:p>
                      <a:pPr algn="ctr"/>
                      <a:r>
                        <a:rPr lang="en-US" dirty="0"/>
                        <a:t>Model(s) Used</a:t>
                      </a:r>
                    </a:p>
                  </a:txBody>
                  <a:tcPr/>
                </a:tc>
                <a:tc>
                  <a:txBody>
                    <a:bodyPr/>
                    <a:lstStyle/>
                    <a:p>
                      <a:pPr algn="ctr"/>
                      <a:r>
                        <a:rPr lang="en-US" dirty="0"/>
                        <a:t>Accuracy/Performance</a:t>
                      </a:r>
                    </a:p>
                  </a:txBody>
                  <a:tcPr/>
                </a:tc>
                <a:extLst>
                  <a:ext uri="{0D108BD9-81ED-4DB2-BD59-A6C34878D82A}">
                    <a16:rowId xmlns:a16="http://schemas.microsoft.com/office/drawing/2014/main" val="2686015584"/>
                  </a:ext>
                </a:extLst>
              </a:tr>
              <a:tr h="890173">
                <a:tc>
                  <a:txBody>
                    <a:bodyPr/>
                    <a:lstStyle/>
                    <a:p>
                      <a:pPr algn="ctr"/>
                      <a:r>
                        <a:rPr lang="en-US" sz="1400" dirty="0"/>
                        <a:t>Retrieval Augmented Recipe Generation</a:t>
                      </a:r>
                    </a:p>
                  </a:txBody>
                  <a:tcPr/>
                </a:tc>
                <a:tc>
                  <a:txBody>
                    <a:bodyPr/>
                    <a:lstStyle/>
                    <a:p>
                      <a:r>
                        <a:rPr lang="en-US" sz="1400" b="0" dirty="0" err="1"/>
                        <a:t>LLaVA</a:t>
                      </a:r>
                      <a:r>
                        <a:rPr lang="en-US" sz="1400" b="0" dirty="0"/>
                        <a:t> (Large Language and Vision Assistant) with </a:t>
                      </a:r>
                      <a:r>
                        <a:rPr lang="en-US" sz="1400" b="0" dirty="0" err="1"/>
                        <a:t>LoRA</a:t>
                      </a:r>
                      <a:r>
                        <a:rPr lang="en-US" sz="1400" b="0" dirty="0"/>
                        <a:t> (Low-Rank Adaptation) </a:t>
                      </a:r>
                    </a:p>
                  </a:txBody>
                  <a:tcPr/>
                </a:tc>
                <a:tc>
                  <a:txBody>
                    <a:bodyPr/>
                    <a:lstStyle/>
                    <a:p>
                      <a:pPr algn="just"/>
                      <a:r>
                        <a:rPr lang="en-US" sz="1200" dirty="0"/>
                        <a:t>This model's performance was measured using common language generation metrics: a BLEU score of 30.11, a </a:t>
                      </a:r>
                      <a:r>
                        <a:rPr lang="en-US" sz="1200" dirty="0" err="1"/>
                        <a:t>SacreBLEU</a:t>
                      </a:r>
                      <a:r>
                        <a:rPr lang="en-US" sz="1200" dirty="0"/>
                        <a:t> score of 6.42, and a ROUGE-L score of 38.93 . These scores assess how closely the generated recipes match a set of reference recipes</a:t>
                      </a:r>
                      <a:r>
                        <a:rPr lang="en-US" sz="1400" dirty="0"/>
                        <a:t>.</a:t>
                      </a:r>
                    </a:p>
                  </a:txBody>
                  <a:tcPr/>
                </a:tc>
                <a:extLst>
                  <a:ext uri="{0D108BD9-81ED-4DB2-BD59-A6C34878D82A}">
                    <a16:rowId xmlns:a16="http://schemas.microsoft.com/office/drawing/2014/main" val="2630398093"/>
                  </a:ext>
                </a:extLst>
              </a:tr>
              <a:tr h="1130276">
                <a:tc>
                  <a:txBody>
                    <a:bodyPr/>
                    <a:lstStyle/>
                    <a:p>
                      <a:pPr algn="ctr"/>
                      <a:r>
                        <a:rPr lang="en-US" sz="1400" dirty="0"/>
                        <a:t>AI-Based Recipe Generator using GPT-4</a:t>
                      </a:r>
                    </a:p>
                  </a:txBody>
                  <a:tcPr/>
                </a:tc>
                <a:tc>
                  <a:txBody>
                    <a:bodyPr/>
                    <a:lstStyle/>
                    <a:p>
                      <a:pPr algn="ctr"/>
                      <a:r>
                        <a:rPr lang="en-US" sz="1400" dirty="0"/>
                        <a:t>GPT-4 </a:t>
                      </a:r>
                    </a:p>
                  </a:txBody>
                  <a:tcPr/>
                </a:tc>
                <a:tc>
                  <a:txBody>
                    <a:bodyPr/>
                    <a:lstStyle/>
                    <a:p>
                      <a:pPr algn="just"/>
                      <a:r>
                        <a:rPr lang="en-US" sz="1200" dirty="0"/>
                        <a:t>The document does not provide specific accuracy or performance metrics for the GPT-4 model. It mentions that the system uses Natural Language Processing (NLP) for understanding user input to generate custom recipes</a:t>
                      </a:r>
                    </a:p>
                  </a:txBody>
                  <a:tcPr/>
                </a:tc>
                <a:extLst>
                  <a:ext uri="{0D108BD9-81ED-4DB2-BD59-A6C34878D82A}">
                    <a16:rowId xmlns:a16="http://schemas.microsoft.com/office/drawing/2014/main" val="1964015201"/>
                  </a:ext>
                </a:extLst>
              </a:tr>
              <a:tr h="1130276">
                <a:tc>
                  <a:txBody>
                    <a:bodyPr/>
                    <a:lstStyle/>
                    <a:p>
                      <a:pPr algn="ctr"/>
                      <a:r>
                        <a:rPr lang="en-US" sz="1400" dirty="0"/>
                        <a:t>Masala Mamu : Agentic AI Kitchen Assistant</a:t>
                      </a:r>
                    </a:p>
                  </a:txBody>
                  <a:tcPr/>
                </a:tc>
                <a:tc>
                  <a:txBody>
                    <a:bodyPr/>
                    <a:lstStyle/>
                    <a:p>
                      <a:r>
                        <a:rPr lang="en-US" sz="1400" b="0" dirty="0"/>
                        <a:t>OpenAI GPT-4o and </a:t>
                      </a:r>
                      <a:r>
                        <a:rPr lang="en-US" sz="1400" b="0" dirty="0" err="1"/>
                        <a:t>xal</a:t>
                      </a:r>
                      <a:r>
                        <a:rPr lang="en-US" sz="1400" b="0" dirty="0"/>
                        <a:t>/grok-3-mini, </a:t>
                      </a:r>
                      <a:r>
                        <a:rPr lang="en-US" sz="1400" b="0" dirty="0" err="1"/>
                        <a:t>microsoft</a:t>
                      </a:r>
                      <a:r>
                        <a:rPr lang="en-US" sz="1400" b="0" dirty="0"/>
                        <a:t>/Phi-3.5-MoE-instruct </a:t>
                      </a:r>
                    </a:p>
                  </a:txBody>
                  <a:tcPr/>
                </a:tc>
                <a:tc>
                  <a:txBody>
                    <a:bodyPr/>
                    <a:lstStyle/>
                    <a:p>
                      <a:r>
                        <a:rPr lang="en-US" sz="1200" dirty="0"/>
                        <a:t>The system's performance was evaluated based on the specific tasks of each model</a:t>
                      </a:r>
                      <a:r>
                        <a:rPr lang="en-US" sz="1400" b="0" dirty="0"/>
                        <a:t>. </a:t>
                      </a:r>
                      <a:r>
                        <a:rPr lang="en-US" sz="1200" b="0" dirty="0"/>
                        <a:t>GPT-4o achieved an accuracy of 0.97 to 0.98 for vision and multimodal tasks. For recipe generation, </a:t>
                      </a:r>
                      <a:r>
                        <a:rPr lang="en-US" sz="1200" b="0" dirty="0" err="1"/>
                        <a:t>bothxal</a:t>
                      </a:r>
                      <a:r>
                        <a:rPr lang="en-US" sz="1200" b="0" dirty="0"/>
                        <a:t>/grok-3-mini and </a:t>
                      </a:r>
                      <a:r>
                        <a:rPr lang="en-US" sz="1200" b="0" dirty="0" err="1"/>
                        <a:t>microsoft</a:t>
                      </a:r>
                      <a:r>
                        <a:rPr lang="en-US" sz="1200" b="0" dirty="0"/>
                        <a:t>/Phi-3.5-MoE-instruct achieved a high accuracy of 0.99 </a:t>
                      </a:r>
                    </a:p>
                  </a:txBody>
                  <a:tcPr/>
                </a:tc>
                <a:extLst>
                  <a:ext uri="{0D108BD9-81ED-4DB2-BD59-A6C34878D82A}">
                    <a16:rowId xmlns:a16="http://schemas.microsoft.com/office/drawing/2014/main" val="1683159267"/>
                  </a:ext>
                </a:extLst>
              </a:tr>
            </a:tbl>
          </a:graphicData>
        </a:graphic>
      </p:graphicFrame>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AFC7BE57-A933-A3A4-14C5-581AAEC30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F314-C796-706F-350D-314C966459C5}"/>
              </a:ext>
            </a:extLst>
          </p:cNvPr>
          <p:cNvSpPr>
            <a:spLocks noGrp="1"/>
          </p:cNvSpPr>
          <p:nvPr>
            <p:ph type="title"/>
          </p:nvPr>
        </p:nvSpPr>
        <p:spPr/>
        <p:txBody>
          <a:bodyPr/>
          <a:lstStyle/>
          <a:p>
            <a:r>
              <a:rPr lang="en-IN" sz="3200" b="1" dirty="0">
                <a:solidFill>
                  <a:srgbClr val="FF0000"/>
                </a:solidFill>
              </a:rPr>
              <a:t>Literature Survey</a:t>
            </a:r>
            <a:endParaRPr lang="en-IN" sz="2800" dirty="0"/>
          </a:p>
        </p:txBody>
      </p:sp>
      <p:graphicFrame>
        <p:nvGraphicFramePr>
          <p:cNvPr id="8" name="Content Placeholder 7">
            <a:extLst>
              <a:ext uri="{FF2B5EF4-FFF2-40B4-BE49-F238E27FC236}">
                <a16:creationId xmlns:a16="http://schemas.microsoft.com/office/drawing/2014/main" id="{EC2D99DB-9AFA-DD96-9894-9130F4181DE2}"/>
              </a:ext>
            </a:extLst>
          </p:cNvPr>
          <p:cNvGraphicFramePr>
            <a:graphicFrameLocks noGrp="1"/>
          </p:cNvGraphicFramePr>
          <p:nvPr>
            <p:ph idx="1"/>
            <p:extLst>
              <p:ext uri="{D42A27DB-BD31-4B8C-83A1-F6EECF244321}">
                <p14:modId xmlns:p14="http://schemas.microsoft.com/office/powerpoint/2010/main" val="135515923"/>
              </p:ext>
            </p:extLst>
          </p:nvPr>
        </p:nvGraphicFramePr>
        <p:xfrm>
          <a:off x="751114" y="1752599"/>
          <a:ext cx="10672536" cy="3813400"/>
        </p:xfrm>
        <a:graphic>
          <a:graphicData uri="http://schemas.openxmlformats.org/drawingml/2006/table">
            <a:tbl>
              <a:tblPr firstRow="1" bandRow="1">
                <a:tableStyleId>{5C22544A-7EE6-4342-B048-85BDC9FD1C3A}</a:tableStyleId>
              </a:tblPr>
              <a:tblGrid>
                <a:gridCol w="2881993">
                  <a:extLst>
                    <a:ext uri="{9D8B030D-6E8A-4147-A177-3AD203B41FA5}">
                      <a16:colId xmlns:a16="http://schemas.microsoft.com/office/drawing/2014/main" val="3477055001"/>
                    </a:ext>
                  </a:extLst>
                </a:gridCol>
                <a:gridCol w="2588079">
                  <a:extLst>
                    <a:ext uri="{9D8B030D-6E8A-4147-A177-3AD203B41FA5}">
                      <a16:colId xmlns:a16="http://schemas.microsoft.com/office/drawing/2014/main" val="3216852072"/>
                    </a:ext>
                  </a:extLst>
                </a:gridCol>
                <a:gridCol w="5202464">
                  <a:extLst>
                    <a:ext uri="{9D8B030D-6E8A-4147-A177-3AD203B41FA5}">
                      <a16:colId xmlns:a16="http://schemas.microsoft.com/office/drawing/2014/main" val="3937649435"/>
                    </a:ext>
                  </a:extLst>
                </a:gridCol>
              </a:tblGrid>
              <a:tr h="604231">
                <a:tc>
                  <a:txBody>
                    <a:bodyPr/>
                    <a:lstStyle/>
                    <a:p>
                      <a:pPr algn="ctr"/>
                      <a:r>
                        <a:rPr lang="en-US" b="1" dirty="0"/>
                        <a:t>Title</a:t>
                      </a:r>
                    </a:p>
                  </a:txBody>
                  <a:tcPr/>
                </a:tc>
                <a:tc>
                  <a:txBody>
                    <a:bodyPr/>
                    <a:lstStyle/>
                    <a:p>
                      <a:pPr algn="ctr"/>
                      <a:r>
                        <a:rPr lang="en-US" dirty="0"/>
                        <a:t>Model(s) Used</a:t>
                      </a:r>
                    </a:p>
                  </a:txBody>
                  <a:tcPr/>
                </a:tc>
                <a:tc>
                  <a:txBody>
                    <a:bodyPr/>
                    <a:lstStyle/>
                    <a:p>
                      <a:pPr algn="ctr"/>
                      <a:r>
                        <a:rPr lang="en-US" dirty="0"/>
                        <a:t>Accuracy/Performance</a:t>
                      </a:r>
                    </a:p>
                  </a:txBody>
                  <a:tcPr/>
                </a:tc>
                <a:extLst>
                  <a:ext uri="{0D108BD9-81ED-4DB2-BD59-A6C34878D82A}">
                    <a16:rowId xmlns:a16="http://schemas.microsoft.com/office/drawing/2014/main" val="2686015584"/>
                  </a:ext>
                </a:extLst>
              </a:tr>
              <a:tr h="890173">
                <a:tc>
                  <a:txBody>
                    <a:bodyPr/>
                    <a:lstStyle/>
                    <a:p>
                      <a:pPr algn="ctr"/>
                      <a:r>
                        <a:rPr lang="en-US" sz="1400" dirty="0"/>
                        <a:t>Smart Chef AI: Recipe Generator and </a:t>
                      </a:r>
                      <a:r>
                        <a:rPr lang="en-US" sz="1400" dirty="0" err="1"/>
                        <a:t>Recommander</a:t>
                      </a:r>
                      <a:endParaRPr lang="en-US" sz="1400" dirty="0"/>
                    </a:p>
                  </a:txBody>
                  <a:tcPr/>
                </a:tc>
                <a:tc>
                  <a:txBody>
                    <a:bodyPr/>
                    <a:lstStyle/>
                    <a:p>
                      <a:r>
                        <a:rPr lang="en-US" sz="1400" b="0" dirty="0"/>
                        <a:t>Llama-2-7B-Chat (LLM) for generation and LSTM</a:t>
                      </a:r>
                      <a:r>
                        <a:rPr lang="en-US" sz="1400" dirty="0"/>
                        <a:t> for recommendation </a:t>
                      </a:r>
                      <a:endParaRPr lang="en-US" sz="1400" b="0" dirty="0"/>
                    </a:p>
                  </a:txBody>
                  <a:tcPr/>
                </a:tc>
                <a:tc>
                  <a:txBody>
                    <a:bodyPr/>
                    <a:lstStyle/>
                    <a:p>
                      <a:pPr algn="just"/>
                      <a:r>
                        <a:rPr lang="en-US" sz="1200" dirty="0"/>
                        <a:t>The paper states that an accuracy metric was used for the LSTM model, but the specific value is not mentioned in the document.</a:t>
                      </a:r>
                      <a:endParaRPr lang="en-US" sz="1400" dirty="0"/>
                    </a:p>
                  </a:txBody>
                  <a:tcPr/>
                </a:tc>
                <a:extLst>
                  <a:ext uri="{0D108BD9-81ED-4DB2-BD59-A6C34878D82A}">
                    <a16:rowId xmlns:a16="http://schemas.microsoft.com/office/drawing/2014/main" val="2630398093"/>
                  </a:ext>
                </a:extLst>
              </a:tr>
              <a:tr h="1130276">
                <a:tc>
                  <a:txBody>
                    <a:bodyPr/>
                    <a:lstStyle/>
                    <a:p>
                      <a:pPr algn="ctr"/>
                      <a:r>
                        <a:rPr lang="en-US" sz="1400" b="0" dirty="0"/>
                        <a:t>Comparative Analysis of GPT-2 and LSTM Models for Indian Recipe Generation </a:t>
                      </a:r>
                    </a:p>
                  </a:txBody>
                  <a:tcPr/>
                </a:tc>
                <a:tc>
                  <a:txBody>
                    <a:bodyPr/>
                    <a:lstStyle/>
                    <a:p>
                      <a:pPr algn="ctr"/>
                      <a:r>
                        <a:rPr lang="en-US" sz="1400" dirty="0"/>
                        <a:t>GPT-2 and LSTM</a:t>
                      </a:r>
                    </a:p>
                  </a:txBody>
                  <a:tcPr/>
                </a:tc>
                <a:tc>
                  <a:txBody>
                    <a:bodyPr/>
                    <a:lstStyle/>
                    <a:p>
                      <a:pPr algn="just"/>
                      <a:r>
                        <a:rPr lang="en-US" sz="1200" b="0" dirty="0"/>
                        <a:t>This paper provided a direct comparison. The fine-tuned GPT-2 model outperformed the LSTM model with a BLEU score of 0.852, a ROUGE-L of 0.785, and a lower perplexity of 12.50 . The LSTM model had significantly lower scores: a BLEU of 0.473, a ROUGE-L of 0.510, and a higher perplexity of 30.75 </a:t>
                      </a:r>
                    </a:p>
                  </a:txBody>
                  <a:tcPr/>
                </a:tc>
                <a:extLst>
                  <a:ext uri="{0D108BD9-81ED-4DB2-BD59-A6C34878D82A}">
                    <a16:rowId xmlns:a16="http://schemas.microsoft.com/office/drawing/2014/main" val="1964015201"/>
                  </a:ext>
                </a:extLst>
              </a:tr>
              <a:tr h="1130276">
                <a:tc>
                  <a:txBody>
                    <a:bodyPr/>
                    <a:lstStyle/>
                    <a:p>
                      <a:pPr algn="ctr"/>
                      <a:r>
                        <a:rPr lang="en-US" sz="1400" dirty="0" err="1"/>
                        <a:t>IndiFoodVQA</a:t>
                      </a:r>
                      <a:r>
                        <a:rPr lang="en-US" sz="1400" dirty="0"/>
                        <a:t>: Advancing Visual Question Answering and Reasoning</a:t>
                      </a:r>
                    </a:p>
                  </a:txBody>
                  <a:tcPr/>
                </a:tc>
                <a:tc>
                  <a:txBody>
                    <a:bodyPr/>
                    <a:lstStyle/>
                    <a:p>
                      <a:r>
                        <a:rPr lang="en-US" sz="1400" b="0" dirty="0"/>
                        <a:t>Zero-Shot Models (</a:t>
                      </a:r>
                      <a:r>
                        <a:rPr lang="en-US" sz="1400" b="0" dirty="0" err="1"/>
                        <a:t>mPLUG</a:t>
                      </a:r>
                      <a:r>
                        <a:rPr lang="en-US" sz="1400" b="0" dirty="0"/>
                        <a:t>-Owl, </a:t>
                      </a:r>
                      <a:r>
                        <a:rPr lang="en-US" sz="1400" b="0" dirty="0" err="1"/>
                        <a:t>OpenFlamingo</a:t>
                      </a:r>
                      <a:r>
                        <a:rPr lang="en-US" sz="1400" b="0" dirty="0"/>
                        <a:t>, </a:t>
                      </a:r>
                      <a:r>
                        <a:rPr lang="en-US" sz="1400" b="0" dirty="0" err="1"/>
                        <a:t>InstructBLIP</a:t>
                      </a:r>
                      <a:r>
                        <a:rPr lang="en-US" sz="1400" b="0" dirty="0"/>
                        <a:t>, </a:t>
                      </a:r>
                      <a:r>
                        <a:rPr lang="en-US" sz="1400" b="0" dirty="0" err="1"/>
                        <a:t>LLaVA</a:t>
                      </a:r>
                      <a:r>
                        <a:rPr lang="en-US" sz="1400" b="0" dirty="0"/>
                        <a:t>) and a fine-tuned </a:t>
                      </a:r>
                      <a:r>
                        <a:rPr lang="en-US" sz="1400" b="0" dirty="0" err="1"/>
                        <a:t>LLaVA</a:t>
                      </a:r>
                      <a:r>
                        <a:rPr lang="en-US" sz="1400" b="0" dirty="0"/>
                        <a:t> model</a:t>
                      </a:r>
                    </a:p>
                  </a:txBody>
                  <a:tcPr/>
                </a:tc>
                <a:tc>
                  <a:txBody>
                    <a:bodyPr/>
                    <a:lstStyle/>
                    <a:p>
                      <a:r>
                        <a:rPr lang="en-US" sz="1200" b="0" dirty="0"/>
                        <a:t>In zero-shot performance, the </a:t>
                      </a:r>
                      <a:r>
                        <a:rPr lang="en-US" sz="1200" b="0" dirty="0" err="1"/>
                        <a:t>InstructBLIP</a:t>
                      </a:r>
                      <a:r>
                        <a:rPr lang="en-US" sz="1200" b="0" dirty="0"/>
                        <a:t> model achieved the highest accuracy at 54.15%. The fine-tuned </a:t>
                      </a:r>
                      <a:r>
                        <a:rPr lang="en-US" sz="1200" b="0" dirty="0" err="1"/>
                        <a:t>LLaVA</a:t>
                      </a:r>
                      <a:r>
                        <a:rPr lang="en-US" sz="1200" b="0" dirty="0"/>
                        <a:t> model demonstrated significant improvement, achieving ~69.22% without a knowledge graph and ~67.15% with 1-hop knowledge graph triples. The fine-tuning process resulted in approximately a 25% performance improvement over the base models</a:t>
                      </a:r>
                    </a:p>
                  </a:txBody>
                  <a:tcPr/>
                </a:tc>
                <a:extLst>
                  <a:ext uri="{0D108BD9-81ED-4DB2-BD59-A6C34878D82A}">
                    <a16:rowId xmlns:a16="http://schemas.microsoft.com/office/drawing/2014/main" val="1683159267"/>
                  </a:ext>
                </a:extLst>
              </a:tr>
            </a:tbl>
          </a:graphicData>
        </a:graphic>
      </p:graphicFrame>
      <p:sp>
        <p:nvSpPr>
          <p:cNvPr id="4" name="Date Placeholder 3">
            <a:extLst>
              <a:ext uri="{FF2B5EF4-FFF2-40B4-BE49-F238E27FC236}">
                <a16:creationId xmlns:a16="http://schemas.microsoft.com/office/drawing/2014/main" id="{EF821C88-DB3D-3B14-630E-172E45B4165A}"/>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E8C2DE62-0E80-C75F-77A2-6738136BE347}"/>
              </a:ext>
            </a:extLst>
          </p:cNvPr>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a:extLst>
              <a:ext uri="{FF2B5EF4-FFF2-40B4-BE49-F238E27FC236}">
                <a16:creationId xmlns:a16="http://schemas.microsoft.com/office/drawing/2014/main" id="{DA1E577B-E844-F502-ED21-DCF225551F67}"/>
              </a:ext>
            </a:extLst>
          </p:cNvPr>
          <p:cNvSpPr>
            <a:spLocks noGrp="1"/>
          </p:cNvSpPr>
          <p:nvPr>
            <p:ph type="sldNum" sz="quarter" idx="12"/>
          </p:nvPr>
        </p:nvSpPr>
        <p:spPr/>
        <p:txBody>
          <a:bodyPr/>
          <a:lstStyle/>
          <a:p>
            <a:fld id="{5AB9ECBD-B4DD-40D5-8D24-9ECCDBB1583E}" type="slidenum">
              <a:rPr lang="en-IN" smtClean="0"/>
              <a:t>6</a:t>
            </a:fld>
            <a:endParaRPr lang="en-IN"/>
          </a:p>
        </p:txBody>
      </p:sp>
    </p:spTree>
    <p:extLst>
      <p:ext uri="{BB962C8B-B14F-4D97-AF65-F5344CB8AC3E}">
        <p14:creationId xmlns:p14="http://schemas.microsoft.com/office/powerpoint/2010/main" val="298824237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7367C-1562-C538-A60F-AFF89CA864BB}"/>
              </a:ext>
            </a:extLst>
          </p:cNvPr>
          <p:cNvSpPr>
            <a:spLocks noGrp="1"/>
          </p:cNvSpPr>
          <p:nvPr>
            <p:ph type="title"/>
          </p:nvPr>
        </p:nvSpPr>
        <p:spPr/>
        <p:txBody>
          <a:bodyPr/>
          <a:lstStyle/>
          <a:p>
            <a:r>
              <a:rPr lang="en-IN" sz="3200" b="1" dirty="0">
                <a:solidFill>
                  <a:srgbClr val="FF0000"/>
                </a:solidFill>
              </a:rPr>
              <a:t>Architecture Diagram</a:t>
            </a:r>
            <a:endParaRPr lang="en-US" sz="3200" dirty="0"/>
          </a:p>
        </p:txBody>
      </p:sp>
      <p:pic>
        <p:nvPicPr>
          <p:cNvPr id="8" name="Content Placeholder 7">
            <a:extLst>
              <a:ext uri="{FF2B5EF4-FFF2-40B4-BE49-F238E27FC236}">
                <a16:creationId xmlns:a16="http://schemas.microsoft.com/office/drawing/2014/main" id="{467B0CA6-30B9-57C0-CBAD-D696F7AE70E2}"/>
              </a:ext>
            </a:extLst>
          </p:cNvPr>
          <p:cNvPicPr>
            <a:picLocks noGrp="1" noChangeAspect="1"/>
          </p:cNvPicPr>
          <p:nvPr>
            <p:ph idx="1"/>
          </p:nvPr>
        </p:nvPicPr>
        <p:blipFill>
          <a:blip r:embed="rId2"/>
          <a:stretch>
            <a:fillRect/>
          </a:stretch>
        </p:blipFill>
        <p:spPr bwMode="auto">
          <a:xfrm>
            <a:off x="1502229" y="1752600"/>
            <a:ext cx="938076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5200FB65-FFFB-B971-8155-453D5271DB55}"/>
              </a:ext>
            </a:extLst>
          </p:cNvPr>
          <p:cNvSpPr>
            <a:spLocks noGrp="1"/>
          </p:cNvSpPr>
          <p:nvPr>
            <p:ph type="dt" sz="half" idx="10"/>
          </p:nvPr>
        </p:nvSpPr>
        <p:spPr/>
        <p:txBody>
          <a:bodyPr/>
          <a:lstStyle/>
          <a:p>
            <a:pPr>
              <a:defRPr/>
            </a:pPr>
            <a:r>
              <a:rPr lang="en-US"/>
              <a:t>Zeroth Review</a:t>
            </a:r>
          </a:p>
        </p:txBody>
      </p:sp>
      <p:sp>
        <p:nvSpPr>
          <p:cNvPr id="5" name="Footer Placeholder 4">
            <a:extLst>
              <a:ext uri="{FF2B5EF4-FFF2-40B4-BE49-F238E27FC236}">
                <a16:creationId xmlns:a16="http://schemas.microsoft.com/office/drawing/2014/main" id="{2E5DEAE6-D53C-F823-3695-E3E8FF69F070}"/>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7E6637D1-56B1-E927-5493-761D0CC8C2E0}"/>
              </a:ext>
            </a:extLst>
          </p:cNvPr>
          <p:cNvSpPr>
            <a:spLocks noGrp="1"/>
          </p:cNvSpPr>
          <p:nvPr>
            <p:ph type="sldNum" sz="quarter" idx="12"/>
          </p:nvPr>
        </p:nvSpPr>
        <p:spPr/>
        <p:txBody>
          <a:bodyPr/>
          <a:lstStyle/>
          <a:p>
            <a:pPr>
              <a:defRPr/>
            </a:pPr>
            <a:fld id="{BDC2143B-610F-499C-A392-DFFBE135A7B2}" type="slidenum">
              <a:rPr lang="en-US" altLang="en-US" smtClean="0"/>
              <a:t>7</a:t>
            </a:fld>
            <a:endParaRPr lang="en-US" altLang="en-US"/>
          </a:p>
        </p:txBody>
      </p:sp>
    </p:spTree>
    <p:extLst>
      <p:ext uri="{BB962C8B-B14F-4D97-AF65-F5344CB8AC3E}">
        <p14:creationId xmlns:p14="http://schemas.microsoft.com/office/powerpoint/2010/main" val="256579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Software Requirements </a:t>
            </a:r>
            <a:r>
              <a:rPr lang="en-IN" sz="3200" b="1" dirty="0" err="1">
                <a:solidFill>
                  <a:srgbClr val="FF0000"/>
                </a:solidFill>
              </a:rPr>
              <a:t>Specifiction</a:t>
            </a:r>
            <a:endParaRPr lang="en-IN" sz="2800" dirty="0"/>
          </a:p>
        </p:txBody>
      </p:sp>
      <p:sp>
        <p:nvSpPr>
          <p:cNvPr id="3" name="Content Placeholder 2"/>
          <p:cNvSpPr>
            <a:spLocks noGrp="1"/>
          </p:cNvSpPr>
          <p:nvPr>
            <p:ph idx="1"/>
          </p:nvPr>
        </p:nvSpPr>
        <p:spPr/>
        <p:txBody>
          <a:bodyPr/>
          <a:lstStyle/>
          <a:p>
            <a:pPr marL="0" indent="0">
              <a:buNone/>
            </a:pPr>
            <a:r>
              <a:rPr lang="en-US" sz="2000" b="1" dirty="0"/>
              <a:t>Objective:</a:t>
            </a:r>
            <a:r>
              <a:rPr lang="en-US" sz="2000" dirty="0"/>
              <a:t> Develop a system that identifies ingredients from an image and generates a recipe using a CSV file.</a:t>
            </a:r>
          </a:p>
          <a:p>
            <a:pPr marL="0" indent="0">
              <a:buNone/>
            </a:pPr>
            <a:endParaRPr lang="en-US" sz="1800" dirty="0"/>
          </a:p>
          <a:p>
            <a:pPr marL="0" indent="0">
              <a:buNone/>
            </a:pPr>
            <a:r>
              <a:rPr lang="en-US" sz="2000" b="1" dirty="0"/>
              <a:t>Key Components:</a:t>
            </a:r>
          </a:p>
          <a:p>
            <a:r>
              <a:rPr lang="en-US" sz="2000" b="1" dirty="0"/>
              <a:t>Computer Vision:</a:t>
            </a:r>
            <a:r>
              <a:rPr lang="en-US" sz="2000" dirty="0"/>
              <a:t> YOLOv12-like model for real-time ingredient detection.</a:t>
            </a:r>
          </a:p>
          <a:p>
            <a:r>
              <a:rPr lang="en-US" sz="2000" b="1" dirty="0"/>
              <a:t>NLP:</a:t>
            </a:r>
            <a:r>
              <a:rPr lang="en-US" sz="2000" dirty="0"/>
              <a:t> BERT model to process a recipe CSV file and generate a recipe.</a:t>
            </a:r>
          </a:p>
          <a:p>
            <a:pPr marL="0" indent="0">
              <a:buNone/>
            </a:pPr>
            <a:endParaRPr lang="en-US" sz="2000" b="1" dirty="0"/>
          </a:p>
          <a:p>
            <a:pPr marL="0" indent="0">
              <a:buNone/>
            </a:pPr>
            <a:r>
              <a:rPr lang="en-US" sz="2000" b="1" dirty="0"/>
              <a:t>User:</a:t>
            </a:r>
            <a:r>
              <a:rPr lang="en-US" sz="2000" dirty="0"/>
              <a:t> This system is designed for </a:t>
            </a:r>
            <a:r>
              <a:rPr lang="en-US" sz="2000" b="1" dirty="0"/>
              <a:t>home cooks and chefs</a:t>
            </a:r>
            <a:r>
              <a:rPr lang="en-US" sz="2000" dirty="0"/>
              <a:t> who need quick, practical recipe ideas. It helps them find recipes by automatically identifying the ingredients they already have, saving them time and effort. Instead of searching endlessly, they get instant suggestions tailored to what's available.</a:t>
            </a:r>
          </a:p>
          <a:p>
            <a:pPr marL="0" indent="0">
              <a:buNone/>
            </a:pPr>
            <a:endParaRPr lang="en-IN" sz="2000" b="1" dirty="0"/>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Functional Requirements &amp; Technology Stack</a:t>
            </a:r>
            <a:endParaRPr lang="en-IN" sz="2800" dirty="0"/>
          </a:p>
        </p:txBody>
      </p:sp>
      <p:sp>
        <p:nvSpPr>
          <p:cNvPr id="3" name="Content Placeholder 2"/>
          <p:cNvSpPr>
            <a:spLocks noGrp="1"/>
          </p:cNvSpPr>
          <p:nvPr>
            <p:ph idx="1"/>
          </p:nvPr>
        </p:nvSpPr>
        <p:spPr/>
        <p:txBody>
          <a:bodyPr/>
          <a:lstStyle/>
          <a:p>
            <a:pPr marL="0" indent="0" algn="just">
              <a:buNone/>
            </a:pPr>
            <a:r>
              <a:rPr lang="en-US" sz="1800" b="1" dirty="0"/>
              <a:t>Functional Requirements:</a:t>
            </a:r>
          </a:p>
          <a:p>
            <a:r>
              <a:rPr lang="en-US" sz="1800" b="1" dirty="0"/>
              <a:t>Ingredient Recognition:</a:t>
            </a:r>
            <a:r>
              <a:rPr lang="en-US" sz="1800" dirty="0"/>
              <a:t> Real-time detection of food items from an image feed.</a:t>
            </a:r>
          </a:p>
          <a:p>
            <a:r>
              <a:rPr lang="en-US" sz="1800" b="1" dirty="0"/>
              <a:t>Recipe Matching:</a:t>
            </a:r>
            <a:r>
              <a:rPr lang="en-US" sz="1800" dirty="0"/>
              <a:t> Query a CSV file to find recipes containing the recognized ingredients.</a:t>
            </a:r>
          </a:p>
          <a:p>
            <a:r>
              <a:rPr lang="en-US" sz="1800" b="1" dirty="0"/>
              <a:t>Recipe Generation:</a:t>
            </a:r>
            <a:r>
              <a:rPr lang="en-US" sz="1800" dirty="0"/>
              <a:t> Use a BERT model to format recipe data from the CSV into a readable recipe.</a:t>
            </a:r>
          </a:p>
          <a:p>
            <a:pPr marL="0" indent="0">
              <a:buNone/>
            </a:pPr>
            <a:endParaRPr lang="en-US" sz="1800" dirty="0"/>
          </a:p>
          <a:p>
            <a:pPr marL="0" indent="0">
              <a:buNone/>
            </a:pPr>
            <a:r>
              <a:rPr lang="en-US" sz="1800" b="1" dirty="0"/>
              <a:t>Technology:</a:t>
            </a:r>
          </a:p>
          <a:p>
            <a:r>
              <a:rPr lang="en-US" sz="1800" b="1" dirty="0"/>
              <a:t>Object Detection:</a:t>
            </a:r>
            <a:r>
              <a:rPr lang="en-US" sz="1800" dirty="0"/>
              <a:t> YOLOv12-like model.</a:t>
            </a:r>
          </a:p>
          <a:p>
            <a:r>
              <a:rPr lang="en-US" sz="1800" b="1" dirty="0"/>
              <a:t>Recipe Generation:</a:t>
            </a:r>
            <a:r>
              <a:rPr lang="en-US" sz="1800" dirty="0"/>
              <a:t> BERT model.</a:t>
            </a:r>
          </a:p>
          <a:p>
            <a:r>
              <a:rPr lang="en-US" sz="1800" b="1" dirty="0"/>
              <a:t>Data Source:</a:t>
            </a:r>
            <a:r>
              <a:rPr lang="en-US" sz="1800" dirty="0"/>
              <a:t> Recipe CSV file.</a:t>
            </a:r>
          </a:p>
          <a:p>
            <a:r>
              <a:rPr lang="en-US" sz="1800" b="1" dirty="0"/>
              <a:t>Deployment:</a:t>
            </a:r>
            <a:r>
              <a:rPr lang="en-US" sz="1800" dirty="0"/>
              <a:t> Cross-platform (e.g., Python on desktop/mobile).</a:t>
            </a:r>
            <a:endParaRPr lang="en-US" sz="1800" b="1" dirty="0"/>
          </a:p>
          <a:p>
            <a:pPr algn="just"/>
            <a:endParaRPr lang="en-IN" sz="2000" b="1" dirty="0"/>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9</a:t>
            </a:fld>
            <a:endParaRPr lang="en-IN"/>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Performance and Data  Requirements</a:t>
            </a:r>
            <a:endParaRPr lang="en-IN" sz="2800" dirty="0"/>
          </a:p>
        </p:txBody>
      </p:sp>
      <p:sp>
        <p:nvSpPr>
          <p:cNvPr id="3" name="Content Placeholder 2"/>
          <p:cNvSpPr>
            <a:spLocks noGrp="1"/>
          </p:cNvSpPr>
          <p:nvPr>
            <p:ph idx="1"/>
          </p:nvPr>
        </p:nvSpPr>
        <p:spPr/>
        <p:txBody>
          <a:bodyPr/>
          <a:lstStyle/>
          <a:p>
            <a:pPr marL="0" lvl="0" indent="0" algn="just">
              <a:buClr>
                <a:srgbClr val="CC0000"/>
              </a:buClr>
              <a:buNone/>
              <a:defRPr/>
            </a:pPr>
            <a:r>
              <a:rPr lang="en-US" sz="1800" b="1" dirty="0"/>
              <a:t>Performance:</a:t>
            </a:r>
          </a:p>
          <a:p>
            <a:r>
              <a:rPr lang="en-US" sz="1800" b="1" dirty="0"/>
              <a:t>Recognition Speed:</a:t>
            </a:r>
            <a:r>
              <a:rPr lang="en-US" sz="1800" dirty="0"/>
              <a:t> Must be completed in under 2 seconds.</a:t>
            </a:r>
          </a:p>
          <a:p>
            <a:r>
              <a:rPr lang="en-US" sz="1800" b="1" dirty="0"/>
              <a:t>Generation Speed:</a:t>
            </a:r>
            <a:r>
              <a:rPr lang="en-US" sz="1800" dirty="0"/>
              <a:t> Must be completed in under 1 second.</a:t>
            </a:r>
          </a:p>
          <a:p>
            <a:pPr marL="0" indent="0" algn="just">
              <a:buClr>
                <a:srgbClr val="CC0000"/>
              </a:buClr>
              <a:buNone/>
              <a:defRPr/>
            </a:pPr>
            <a:endParaRPr lang="en-IN" sz="1800" b="1" dirty="0"/>
          </a:p>
          <a:p>
            <a:pPr marL="0" indent="0" algn="just">
              <a:buClr>
                <a:srgbClr val="CC0000"/>
              </a:buClr>
              <a:buNone/>
              <a:defRPr/>
            </a:pPr>
            <a:r>
              <a:rPr lang="en-US" sz="1800" b="1" dirty="0"/>
              <a:t>Data Requirements:</a:t>
            </a:r>
          </a:p>
          <a:p>
            <a:r>
              <a:rPr lang="en-US" sz="1800" b="1" dirty="0"/>
              <a:t>Recipe CSV:</a:t>
            </a:r>
            <a:r>
              <a:rPr lang="en-US" sz="1800" dirty="0"/>
              <a:t> A well-structured file containing recipe details.</a:t>
            </a:r>
          </a:p>
          <a:p>
            <a:r>
              <a:rPr lang="en-US" sz="1800" b="1" dirty="0"/>
              <a:t>Model Weights:</a:t>
            </a:r>
            <a:r>
              <a:rPr lang="en-US" sz="1800" dirty="0"/>
              <a:t> Pre-trained weights for YOLO and BERT models.</a:t>
            </a:r>
          </a:p>
          <a:p>
            <a:r>
              <a:rPr lang="en-US" sz="1800" b="1" dirty="0"/>
              <a:t>Training Data:</a:t>
            </a:r>
            <a:r>
              <a:rPr lang="en-US" sz="1800" dirty="0"/>
              <a:t> Necessary for fine-tuning the models.</a:t>
            </a:r>
          </a:p>
          <a:p>
            <a:pPr marL="0" indent="0" algn="just">
              <a:buClr>
                <a:srgbClr val="CC0000"/>
              </a:buClr>
              <a:buNone/>
              <a:defRPr/>
            </a:pPr>
            <a:endParaRPr lang="en-IN" sz="1800" b="1" dirty="0"/>
          </a:p>
          <a:p>
            <a:pPr marL="0" indent="0" algn="just">
              <a:buClr>
                <a:srgbClr val="CC0000"/>
              </a:buClr>
              <a:buNone/>
              <a:defRPr/>
            </a:pPr>
            <a:r>
              <a:rPr lang="en-US" sz="1800" b="1" dirty="0"/>
              <a:t>Constraints:</a:t>
            </a:r>
          </a:p>
          <a:p>
            <a:r>
              <a:rPr lang="en-US" sz="1800" dirty="0"/>
              <a:t>The system's recipes are limited to the provided CSV data.</a:t>
            </a:r>
          </a:p>
          <a:p>
            <a:r>
              <a:rPr lang="en-US" sz="1800" dirty="0"/>
              <a:t>The core functionality must work offline.</a:t>
            </a:r>
          </a:p>
          <a:p>
            <a:pPr marL="0" indent="0" algn="just">
              <a:buClr>
                <a:srgbClr val="CC0000"/>
              </a:buClr>
              <a:buNone/>
              <a:defRPr/>
            </a:pPr>
            <a:endParaRPr lang="en-US" sz="1800" b="1" dirty="0"/>
          </a:p>
          <a:p>
            <a:pPr algn="just">
              <a:buClr>
                <a:srgbClr val="CC0000"/>
              </a:buClr>
              <a:defRPr/>
            </a:pPr>
            <a:endParaRPr lang="en-IN" sz="2000" b="1" dirty="0"/>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10</a:t>
            </a:fld>
            <a:endParaRPr lang="en-IN"/>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0D337BD-AEE5-2B40-6A91-8A32B0D07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5FB35-4088-6003-B051-2BE7EC777469}"/>
              </a:ext>
            </a:extLst>
          </p:cNvPr>
          <p:cNvSpPr>
            <a:spLocks noGrp="1"/>
          </p:cNvSpPr>
          <p:nvPr>
            <p:ph type="title"/>
          </p:nvPr>
        </p:nvSpPr>
        <p:spPr/>
        <p:txBody>
          <a:bodyPr/>
          <a:lstStyle/>
          <a:p>
            <a:r>
              <a:rPr lang="en-IN" sz="3200" b="1" dirty="0">
                <a:solidFill>
                  <a:srgbClr val="FF0000"/>
                </a:solidFill>
              </a:rPr>
              <a:t>Reference</a:t>
            </a:r>
            <a:endParaRPr lang="en-IN" sz="2800" dirty="0"/>
          </a:p>
        </p:txBody>
      </p:sp>
      <p:sp>
        <p:nvSpPr>
          <p:cNvPr id="3" name="Content Placeholder 2">
            <a:extLst>
              <a:ext uri="{FF2B5EF4-FFF2-40B4-BE49-F238E27FC236}">
                <a16:creationId xmlns:a16="http://schemas.microsoft.com/office/drawing/2014/main" id="{73F13946-45AE-342F-5625-AAB37405FF89}"/>
              </a:ext>
            </a:extLst>
          </p:cNvPr>
          <p:cNvSpPr>
            <a:spLocks noGrp="1"/>
          </p:cNvSpPr>
          <p:nvPr>
            <p:ph idx="1"/>
          </p:nvPr>
        </p:nvSpPr>
        <p:spPr/>
        <p:txBody>
          <a:bodyPr/>
          <a:lstStyle/>
          <a:p>
            <a:r>
              <a:rPr lang="en-US" sz="1700" dirty="0"/>
              <a:t>[1] P. </a:t>
            </a:r>
            <a:r>
              <a:rPr lang="en-US" sz="1700" dirty="0" err="1"/>
              <a:t>Chhikara</a:t>
            </a:r>
            <a:r>
              <a:rPr lang="en-US" sz="1700" dirty="0"/>
              <a:t>, D. Chaurasia, Y. Jiang, O. Masur, and F. Ilievski, "FIRE: Food Image to </a:t>
            </a:r>
            <a:r>
              <a:rPr lang="en-US" sz="1700" dirty="0" err="1"/>
              <a:t>REcipe</a:t>
            </a:r>
            <a:r>
              <a:rPr lang="en-US" sz="1700" dirty="0"/>
              <a:t> Generation," </a:t>
            </a:r>
            <a:r>
              <a:rPr lang="en-US" sz="1700" i="1" dirty="0"/>
              <a:t>Proc. IEEE Winter Conf. on Applications of Computer Vision (WACV)</a:t>
            </a:r>
            <a:r>
              <a:rPr lang="en-US" sz="1700" dirty="0"/>
              <a:t>, 2024, pp. 1234–1245.</a:t>
            </a:r>
          </a:p>
          <a:p>
            <a:r>
              <a:rPr lang="en-US" sz="1700" dirty="0"/>
              <a:t>[2] Y. Yin, H. Qi, B. Zhu, J. Chen, Y.-G. Jiang, and C.-W. Ngo, "</a:t>
            </a:r>
            <a:r>
              <a:rPr lang="en-US" sz="1700" dirty="0" err="1"/>
              <a:t>FoodLMM</a:t>
            </a:r>
            <a:r>
              <a:rPr lang="en-US" sz="1700" dirty="0"/>
              <a:t>: A Versatile Food Assistant using Large Multi‑modal Model," </a:t>
            </a:r>
            <a:r>
              <a:rPr lang="en-US" sz="1700" i="1" dirty="0" err="1"/>
              <a:t>arXiv</a:t>
            </a:r>
            <a:r>
              <a:rPr lang="en-US" sz="1700" i="1" dirty="0"/>
              <a:t> preprint arXiv:2312.14991</a:t>
            </a:r>
            <a:r>
              <a:rPr lang="en-US" sz="1700" dirty="0"/>
              <a:t>, 2023.</a:t>
            </a:r>
          </a:p>
          <a:p>
            <a:r>
              <a:rPr lang="en-US" sz="1700" dirty="0"/>
              <a:t>[3] K. Fu and Y. Dai, "Recognizing Multiple Ingredients in Food Images Using a Single‑Ingredient Classification Model," </a:t>
            </a:r>
            <a:r>
              <a:rPr lang="en-US" sz="1700" i="1" dirty="0" err="1"/>
              <a:t>arXiv</a:t>
            </a:r>
            <a:r>
              <a:rPr lang="en-US" sz="1700" i="1" dirty="0"/>
              <a:t> preprint arXiv:2401.14579</a:t>
            </a:r>
            <a:r>
              <a:rPr lang="en-US" sz="1700" dirty="0"/>
              <a:t>, 2024.</a:t>
            </a:r>
          </a:p>
          <a:p>
            <a:r>
              <a:rPr lang="en-US" sz="1700" dirty="0"/>
              <a:t>[4] H. Qi, B. Zhu, C.-W. Ngo, J. Chen, and E.-P. Lim, "Advancing Food Nutrition Estimation via Visual‑Ingredient Feature Fusion (VIF²)," </a:t>
            </a:r>
            <a:r>
              <a:rPr lang="en-US" sz="1700" i="1" dirty="0"/>
              <a:t>Proc. ACM Int. Conf. on Multimedia Retrieval (ICMR)</a:t>
            </a:r>
            <a:r>
              <a:rPr lang="en-US" sz="1700" dirty="0"/>
              <a:t>, 2025.</a:t>
            </a:r>
          </a:p>
          <a:p>
            <a:r>
              <a:rPr lang="en-US" sz="1700" dirty="0"/>
              <a:t>[5] T. Senath et al., "Large Language Models for Ingredient Substitution in Food Recipes using Supervised Fine‑tuning and DPO," </a:t>
            </a:r>
            <a:r>
              <a:rPr lang="en-US" sz="1700" i="1" dirty="0" err="1"/>
              <a:t>arXiv</a:t>
            </a:r>
            <a:r>
              <a:rPr lang="en-US" sz="1700" i="1" dirty="0"/>
              <a:t> preprint arXiv:2412.04922</a:t>
            </a:r>
            <a:r>
              <a:rPr lang="en-US" sz="1700" dirty="0"/>
              <a:t>, 2024.</a:t>
            </a:r>
          </a:p>
          <a:p>
            <a:r>
              <a:rPr lang="en-US" sz="1800" dirty="0"/>
              <a:t>J. Louro, F. Fidalgo, and Â. Oliveira, "Recognition of Food Ingredients—Dataset Analysis," </a:t>
            </a:r>
            <a:r>
              <a:rPr lang="en-US" sz="1800" i="1" dirty="0"/>
              <a:t>Appl. Sci.</a:t>
            </a:r>
            <a:r>
              <a:rPr lang="en-US" sz="1800" dirty="0"/>
              <a:t>, vol. 14, no. 5, pp. 2356, 2024.</a:t>
            </a:r>
            <a:endParaRPr lang="en-US" sz="1700" dirty="0"/>
          </a:p>
          <a:p>
            <a:pPr marL="0" indent="0" algn="just">
              <a:buClr>
                <a:srgbClr val="CC0000"/>
              </a:buClr>
              <a:buNone/>
              <a:defRPr/>
            </a:pPr>
            <a:endParaRPr lang="en-IN" sz="1700" b="1" dirty="0"/>
          </a:p>
        </p:txBody>
      </p:sp>
      <p:sp>
        <p:nvSpPr>
          <p:cNvPr id="4" name="Date Placeholder 3">
            <a:extLst>
              <a:ext uri="{FF2B5EF4-FFF2-40B4-BE49-F238E27FC236}">
                <a16:creationId xmlns:a16="http://schemas.microsoft.com/office/drawing/2014/main" id="{4488E21A-AFA8-8E7D-CBF2-48EBF7ECD501}"/>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9350C176-6D48-86B4-4B04-1D689148A3E9}"/>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6863E650-7751-3FD5-9028-A65BFECCD26F}"/>
              </a:ext>
            </a:extLst>
          </p:cNvPr>
          <p:cNvSpPr>
            <a:spLocks noGrp="1"/>
          </p:cNvSpPr>
          <p:nvPr>
            <p:ph type="sldNum" sz="quarter" idx="12"/>
          </p:nvPr>
        </p:nvSpPr>
        <p:spPr/>
        <p:txBody>
          <a:bodyPr/>
          <a:lstStyle/>
          <a:p>
            <a:fld id="{5AB9ECBD-B4DD-40D5-8D24-9ECCDBB1583E}" type="slidenum">
              <a:rPr lang="en-IN" smtClean="0"/>
              <a:t>11</a:t>
            </a:fld>
            <a:endParaRPr lang="en-IN"/>
          </a:p>
        </p:txBody>
      </p:sp>
    </p:spTree>
    <p:extLst>
      <p:ext uri="{BB962C8B-B14F-4D97-AF65-F5344CB8AC3E}">
        <p14:creationId xmlns:p14="http://schemas.microsoft.com/office/powerpoint/2010/main" val="250361183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5A47C7F-7C70-1064-096E-E77EA780E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4B252-FFC9-97E0-1282-B1A57025A7AF}"/>
              </a:ext>
            </a:extLst>
          </p:cNvPr>
          <p:cNvSpPr>
            <a:spLocks noGrp="1"/>
          </p:cNvSpPr>
          <p:nvPr>
            <p:ph type="title"/>
          </p:nvPr>
        </p:nvSpPr>
        <p:spPr/>
        <p:txBody>
          <a:bodyPr/>
          <a:lstStyle/>
          <a:p>
            <a:r>
              <a:rPr lang="en-IN" sz="3200" b="1" dirty="0">
                <a:solidFill>
                  <a:srgbClr val="FF0000"/>
                </a:solidFill>
              </a:rPr>
              <a:t>Reference</a:t>
            </a:r>
            <a:endParaRPr lang="en-IN" sz="2800" dirty="0"/>
          </a:p>
        </p:txBody>
      </p:sp>
      <p:sp>
        <p:nvSpPr>
          <p:cNvPr id="3" name="Content Placeholder 2">
            <a:extLst>
              <a:ext uri="{FF2B5EF4-FFF2-40B4-BE49-F238E27FC236}">
                <a16:creationId xmlns:a16="http://schemas.microsoft.com/office/drawing/2014/main" id="{2AF05978-31B4-DD2B-60B5-23BAB4278634}"/>
              </a:ext>
            </a:extLst>
          </p:cNvPr>
          <p:cNvSpPr>
            <a:spLocks noGrp="1"/>
          </p:cNvSpPr>
          <p:nvPr>
            <p:ph idx="1"/>
          </p:nvPr>
        </p:nvSpPr>
        <p:spPr/>
        <p:txBody>
          <a:bodyPr/>
          <a:lstStyle/>
          <a:p>
            <a:r>
              <a:rPr lang="en-US" sz="1800" dirty="0"/>
              <a:t>A. Mane, G. Sharma, A. </a:t>
            </a:r>
            <a:r>
              <a:rPr lang="en-US" sz="1800" dirty="0" err="1"/>
              <a:t>Soraganvi</a:t>
            </a:r>
            <a:r>
              <a:rPr lang="en-US" sz="1800" dirty="0"/>
              <a:t>, A. Devkar, and R. Raut, "Food Ingredient Detection Using Deep Learning," </a:t>
            </a:r>
            <a:r>
              <a:rPr lang="en-US" sz="1800" i="1" dirty="0"/>
              <a:t>Proc. SIPCOV 2023</a:t>
            </a:r>
            <a:r>
              <a:rPr lang="en-US" sz="1800" dirty="0"/>
              <a:t>, 2024, pp. 12–19.</a:t>
            </a:r>
          </a:p>
          <a:p>
            <a:r>
              <a:rPr lang="en-US" sz="1800" dirty="0"/>
              <a:t>[8] M. </a:t>
            </a:r>
            <a:r>
              <a:rPr lang="en-US" sz="1800" dirty="0" err="1"/>
              <a:t>Banjade</a:t>
            </a:r>
            <a:r>
              <a:rPr lang="en-US" sz="1800" dirty="0"/>
              <a:t>, R. Chhetri, and P. Sharma, "Deep Learning and Gen AI based System for Ingredient Recognition and Recipe Insight," </a:t>
            </a:r>
            <a:r>
              <a:rPr lang="en-US" sz="1800" i="1" dirty="0"/>
              <a:t>Int. J. Sci. Eng. Technol.</a:t>
            </a:r>
            <a:r>
              <a:rPr lang="en-US" sz="1800" dirty="0"/>
              <a:t>, vol. 12, no. 6, pp. 878–886, 2024.</a:t>
            </a:r>
          </a:p>
          <a:p>
            <a:r>
              <a:rPr lang="en-US" sz="1800" dirty="0"/>
              <a:t>[9] V. G. </a:t>
            </a:r>
            <a:r>
              <a:rPr lang="en-US" sz="1800" dirty="0" err="1"/>
              <a:t>Bharane</a:t>
            </a:r>
            <a:r>
              <a:rPr lang="en-US" sz="1800" dirty="0"/>
              <a:t> et al., "Recipe Reveal – Ingredients and Recipe Generation from Food Image," </a:t>
            </a:r>
            <a:r>
              <a:rPr lang="en-US" sz="1800" i="1" dirty="0"/>
              <a:t>Int. J. Adv. </a:t>
            </a:r>
            <a:r>
              <a:rPr lang="en-US" sz="1800" i="1" dirty="0" err="1"/>
              <a:t>Comput</a:t>
            </a:r>
            <a:r>
              <a:rPr lang="en-US" sz="1800" i="1" dirty="0"/>
              <a:t>. Eng. &amp; Comp. Tech.</a:t>
            </a:r>
            <a:r>
              <a:rPr lang="en-US" sz="1800" dirty="0"/>
              <a:t>, 2025, pp. 539–550.</a:t>
            </a:r>
          </a:p>
          <a:p>
            <a:r>
              <a:rPr lang="en-US" sz="1800" dirty="0"/>
              <a:t>[10] A. </a:t>
            </a:r>
            <a:r>
              <a:rPr lang="en-US" sz="1800" dirty="0" err="1"/>
              <a:t>Shokeen</a:t>
            </a:r>
            <a:r>
              <a:rPr lang="en-US" sz="1800" dirty="0"/>
              <a:t>, R. Sharma, and S. Verma, "Recipe Generation from Food Images Using CNN," </a:t>
            </a:r>
            <a:r>
              <a:rPr lang="en-US" sz="1800" i="1" dirty="0"/>
              <a:t>Int. J. Innovative Res. in Technol.</a:t>
            </a:r>
            <a:r>
              <a:rPr lang="en-US" sz="1800" dirty="0"/>
              <a:t>, 2025, pp. 1–8.</a:t>
            </a:r>
          </a:p>
          <a:p>
            <a:pPr marL="0" indent="0" algn="just">
              <a:buClr>
                <a:srgbClr val="CC0000"/>
              </a:buClr>
              <a:buNone/>
              <a:defRPr/>
            </a:pPr>
            <a:endParaRPr lang="en-IN" sz="1700" b="1" dirty="0"/>
          </a:p>
        </p:txBody>
      </p:sp>
      <p:sp>
        <p:nvSpPr>
          <p:cNvPr id="4" name="Date Placeholder 3">
            <a:extLst>
              <a:ext uri="{FF2B5EF4-FFF2-40B4-BE49-F238E27FC236}">
                <a16:creationId xmlns:a16="http://schemas.microsoft.com/office/drawing/2014/main" id="{E57372BC-E612-280D-0E0E-6F8311BE063D}"/>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AF5CDFFF-DAE0-69F1-DC73-5C59EBF788BA}"/>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47C7B681-D0EE-FA77-94FC-F77F1AC0C14B}"/>
              </a:ext>
            </a:extLst>
          </p:cNvPr>
          <p:cNvSpPr>
            <a:spLocks noGrp="1"/>
          </p:cNvSpPr>
          <p:nvPr>
            <p:ph type="sldNum" sz="quarter" idx="12"/>
          </p:nvPr>
        </p:nvSpPr>
        <p:spPr/>
        <p:txBody>
          <a:bodyPr/>
          <a:lstStyle/>
          <a:p>
            <a:fld id="{5AB9ECBD-B4DD-40D5-8D24-9ECCDBB1583E}" type="slidenum">
              <a:rPr lang="en-IN" smtClean="0"/>
              <a:t>12</a:t>
            </a:fld>
            <a:endParaRPr lang="en-IN"/>
          </a:p>
        </p:txBody>
      </p:sp>
    </p:spTree>
    <p:extLst>
      <p:ext uri="{BB962C8B-B14F-4D97-AF65-F5344CB8AC3E}">
        <p14:creationId xmlns:p14="http://schemas.microsoft.com/office/powerpoint/2010/main" val="30646160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13</a:t>
            </a:fld>
            <a:endParaRPr lang="en-US" altLang="en-US" dirty="0"/>
          </a:p>
        </p:txBody>
      </p:sp>
      <p:sp>
        <p:nvSpPr>
          <p:cNvPr id="5" name="Date Placeholder 4"/>
          <p:cNvSpPr>
            <a:spLocks noGrp="1"/>
          </p:cNvSpPr>
          <p:nvPr>
            <p:ph type="dt" sz="half" idx="10"/>
          </p:nvPr>
        </p:nvSpPr>
        <p:spPr/>
        <p:txBody>
          <a:bodyPr/>
          <a:lstStyle/>
          <a:p>
            <a:pPr>
              <a:defRPr/>
            </a:pPr>
            <a:r>
              <a:rPr lang="en-US" dirty="0"/>
              <a:t>First Review</a:t>
            </a:r>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192</TotalTime>
  <Words>1674</Words>
  <Application>Microsoft Office PowerPoint</Application>
  <PresentationFormat>Widescreen</PresentationFormat>
  <Paragraphs>146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Verdana</vt:lpstr>
      <vt:lpstr>Wingdings</vt:lpstr>
      <vt:lpstr>Profile</vt:lpstr>
      <vt:lpstr>PowerPoint Presentation</vt:lpstr>
      <vt:lpstr>Introduction and Overview of the Project</vt:lpstr>
      <vt:lpstr>Existing System</vt:lpstr>
      <vt:lpstr>Project Objective and Scopes</vt:lpstr>
      <vt:lpstr>Literature Survey</vt:lpstr>
      <vt:lpstr>Literature Survey</vt:lpstr>
      <vt:lpstr>Architecture Diagram</vt:lpstr>
      <vt:lpstr>Software Requirements Specifiction</vt:lpstr>
      <vt:lpstr>Functional Requirements &amp; Technology Stack</vt:lpstr>
      <vt:lpstr>Performance and Data  Requirements</vt:lpstr>
      <vt:lpstr>Reference</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Santhosh B</cp:lastModifiedBy>
  <cp:revision>12</cp:revision>
  <dcterms:created xsi:type="dcterms:W3CDTF">2025-07-29T03:52:08Z</dcterms:created>
  <dcterms:modified xsi:type="dcterms:W3CDTF">2025-09-26T13:25:04Z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