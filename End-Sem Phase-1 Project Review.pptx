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5"/>
  </p:notesMasterIdLst>
  <p:sldIdLst>
    <p:sldId id="256" r:id="rId2"/>
    <p:sldId id="257" r:id="rId3"/>
    <p:sldId id="368" r:id="rId4"/>
    <p:sldId id="369" r:id="rId5"/>
    <p:sldId id="370" r:id="rId6"/>
    <p:sldId id="375" r:id="rId7"/>
    <p:sldId id="372" r:id="rId8"/>
    <p:sldId id="374" r:id="rId9"/>
    <p:sldId id="376" r:id="rId10"/>
    <p:sldId id="377" r:id="rId11"/>
    <p:sldId id="378" r:id="rId12"/>
    <p:sldId id="373" r:id="rId13"/>
    <p:sldId id="3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7" d="100"/>
          <a:sy n="117" d="100"/>
        </p:scale>
        <p:origin x="35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9E05D0-A421-4EF3-8512-AD1148C82550}" type="datetimeFigureOut">
              <a:rPr lang="en-IN" smtClean="0"/>
              <a:t>24-11-2025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C5D9F-5FDD-4E04-AD07-37773298FBF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AutoShape 7"/>
          <p:cNvSpPr>
            <a:spLocks noChangeArrowheads="1"/>
          </p:cNvSpPr>
          <p:nvPr/>
        </p:nvSpPr>
        <p:spPr bwMode="auto">
          <a:xfrm>
            <a:off x="914400" y="2393950"/>
            <a:ext cx="103632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en-IN" sz="1800"/>
          </a:p>
        </p:txBody>
      </p:sp>
      <p:sp>
        <p:nvSpPr>
          <p:cNvPr id="5122"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5123" name="Rectangle 3"/>
          <p:cNvSpPr>
            <a:spLocks noGrp="1" noChangeArrowheads="1"/>
          </p:cNvSpPr>
          <p:nvPr>
            <p:ph type="subTitle" idx="1"/>
          </p:nvPr>
        </p:nvSpPr>
        <p:spPr>
          <a:xfrm>
            <a:off x="1930400" y="3429000"/>
            <a:ext cx="9347200" cy="1600200"/>
          </a:xfrm>
        </p:spPr>
        <p:txBody>
          <a:bodyPr/>
          <a:lstStyle>
            <a:lvl1pPr marL="0" indent="0">
              <a:buFont typeface="Wingdings" panose="05000000000000000000" pitchFamily="2" charset="2"/>
              <a:buNone/>
              <a:defRPr sz="2800"/>
            </a:lvl1pPr>
          </a:lstStyle>
          <a:p>
            <a:r>
              <a:rPr lang="en-US"/>
              <a:t>Click to edit Master subtitle style</a:t>
            </a:r>
          </a:p>
        </p:txBody>
      </p:sp>
      <p:sp>
        <p:nvSpPr>
          <p:cNvPr id="3" name="Date Placeholder 2"/>
          <p:cNvSpPr>
            <a:spLocks noGrp="1" noChangeArrowheads="1"/>
          </p:cNvSpPr>
          <p:nvPr>
            <p:ph type="dt" sz="half" idx="10"/>
          </p:nvPr>
        </p:nvSpPr>
        <p:spPr>
          <a:xfrm>
            <a:off x="914400" y="6248400"/>
            <a:ext cx="2540000" cy="457200"/>
          </a:xfrm>
        </p:spPr>
        <p:txBody>
          <a:bodyPr/>
          <a:lstStyle>
            <a:lvl1pPr>
              <a:defRPr/>
            </a:lvl1pPr>
          </a:lstStyle>
          <a:p>
            <a:pPr>
              <a:defRPr/>
            </a:pPr>
            <a:r>
              <a:rPr lang="en-US"/>
              <a:t>Zeroth Review</a:t>
            </a:r>
          </a:p>
        </p:txBody>
      </p:sp>
      <p:sp>
        <p:nvSpPr>
          <p:cNvPr id="4" name="Footer Placeholder 3"/>
          <p:cNvSpPr>
            <a:spLocks noGrp="1" noChangeArrowheads="1"/>
          </p:cNvSpPr>
          <p:nvPr>
            <p:ph type="ftr" sz="quarter" idx="11"/>
          </p:nvPr>
        </p:nvSpPr>
        <p:spPr>
          <a:xfrm>
            <a:off x="4165600" y="6248400"/>
            <a:ext cx="3860800" cy="457200"/>
          </a:xfrm>
        </p:spPr>
        <p:txBody>
          <a:bodyPr/>
          <a:lstStyle>
            <a:lvl1pPr>
              <a:defRPr/>
            </a:lvl1pPr>
          </a:lstStyle>
          <a:p>
            <a:pPr>
              <a:defRPr/>
            </a:pPr>
            <a:r>
              <a:rPr lang="en-US"/>
              <a:t>Department of Computer Science and Engineering</a:t>
            </a:r>
          </a:p>
        </p:txBody>
      </p:sp>
      <p:sp>
        <p:nvSpPr>
          <p:cNvPr id="5" name="Slide Number Placeholder 4"/>
          <p:cNvSpPr>
            <a:spLocks noGrp="1" noChangeArrowheads="1"/>
          </p:cNvSpPr>
          <p:nvPr>
            <p:ph type="sldNum" sz="quarter" idx="12"/>
          </p:nvPr>
        </p:nvSpPr>
        <p:spPr>
          <a:xfrm>
            <a:off x="8737600" y="6248400"/>
            <a:ext cx="2540000" cy="457200"/>
          </a:xfrm>
        </p:spPr>
        <p:txBody>
          <a:bodyPr/>
          <a:lstStyle>
            <a:lvl1pPr>
              <a:defRPr smtClean="0"/>
            </a:lvl1pPr>
          </a:lstStyle>
          <a:p>
            <a:pPr>
              <a:defRPr/>
            </a:pPr>
            <a:fld id="{D8F95DA7-9E0E-467D-A139-0471DC1777CB}" type="slidenum">
              <a:rPr lang="en-US" altLang="en-US"/>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BDC2143B-610F-499C-A392-DFFBE135A7B2}" type="slidenum">
              <a:rPr lang="en-US" altLang="en-US"/>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575C213C-AC18-4D5A-BA73-4550FF50B842}" type="slidenum">
              <a:rPr lang="en-US" altLang="en-US"/>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p:txBody>
          <a:bodyPr/>
          <a:lstStyle>
            <a:lvl1pPr>
              <a:defRPr/>
            </a:lvl1pPr>
          </a:lstStyle>
          <a:p>
            <a:pPr>
              <a:defRPr/>
            </a:pPr>
            <a:r>
              <a:rPr lang="en-US"/>
              <a:t>Zeroth Review</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7A8ED4EA-E359-45F1-B86A-A40772B25C23}" type="slidenum">
              <a:rPr lang="en-US" altLang="en-US"/>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p:txBody>
          <a:bodyPr/>
          <a:lstStyle>
            <a:lvl1pPr>
              <a:defRPr/>
            </a:lvl1pPr>
          </a:lstStyle>
          <a:p>
            <a:pPr>
              <a:defRPr/>
            </a:pPr>
            <a:r>
              <a:rPr lang="en-US"/>
              <a:t>Zeroth Review</a:t>
            </a:r>
          </a:p>
        </p:txBody>
      </p:sp>
      <p:sp>
        <p:nvSpPr>
          <p:cNvPr id="8"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9" name="Rectangle 8"/>
          <p:cNvSpPr>
            <a:spLocks noGrp="1" noChangeArrowheads="1"/>
          </p:cNvSpPr>
          <p:nvPr>
            <p:ph type="sldNum" sz="quarter" idx="12"/>
          </p:nvPr>
        </p:nvSpPr>
        <p:spPr/>
        <p:txBody>
          <a:bodyPr/>
          <a:lstStyle>
            <a:lvl1pPr>
              <a:defRPr/>
            </a:lvl1pPr>
          </a:lstStyle>
          <a:p>
            <a:pPr>
              <a:defRPr/>
            </a:pPr>
            <a:fld id="{E637AD66-1F60-49BE-A2E9-D91D10CB91F3}" type="slidenum">
              <a:rPr lang="en-US" altLang="en-US"/>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p:txBody>
          <a:bodyPr/>
          <a:lstStyle>
            <a:lvl1pPr>
              <a:defRPr/>
            </a:lvl1pPr>
          </a:lstStyle>
          <a:p>
            <a:pPr>
              <a:defRPr/>
            </a:pPr>
            <a:r>
              <a:rPr lang="en-US"/>
              <a:t>Zeroth Review</a:t>
            </a:r>
          </a:p>
        </p:txBody>
      </p:sp>
      <p:sp>
        <p:nvSpPr>
          <p:cNvPr id="4"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5" name="Rectangle 8"/>
          <p:cNvSpPr>
            <a:spLocks noGrp="1" noChangeArrowheads="1"/>
          </p:cNvSpPr>
          <p:nvPr>
            <p:ph type="sldNum" sz="quarter" idx="12"/>
          </p:nvPr>
        </p:nvSpPr>
        <p:spPr/>
        <p:txBody>
          <a:bodyPr/>
          <a:lstStyle>
            <a:lvl1pPr>
              <a:defRPr/>
            </a:lvl1pPr>
          </a:lstStyle>
          <a:p>
            <a:pPr>
              <a:defRPr/>
            </a:pPr>
            <a:fld id="{F583B680-F650-469F-A231-392F163461F6}" type="slidenum">
              <a:rPr lang="en-US" altLang="en-US"/>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r>
              <a:rPr lang="en-US"/>
              <a:t>Zeroth Review</a:t>
            </a:r>
          </a:p>
        </p:txBody>
      </p:sp>
      <p:sp>
        <p:nvSpPr>
          <p:cNvPr id="3"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4" name="Rectangle 8"/>
          <p:cNvSpPr>
            <a:spLocks noGrp="1" noChangeArrowheads="1"/>
          </p:cNvSpPr>
          <p:nvPr>
            <p:ph type="sldNum" sz="quarter" idx="12"/>
          </p:nvPr>
        </p:nvSpPr>
        <p:spPr/>
        <p:txBody>
          <a:bodyPr/>
          <a:lstStyle>
            <a:lvl1pPr>
              <a:defRPr/>
            </a:lvl1pPr>
          </a:lstStyle>
          <a:p>
            <a:pPr>
              <a:defRPr/>
            </a:pPr>
            <a:fld id="{DD537315-F462-4C74-88B4-A900525A3FAA}" type="slidenum">
              <a:rPr lang="en-US" altLang="en-US"/>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a:lvl1pPr>
          </a:lstStyle>
          <a:p>
            <a:pPr>
              <a:defRPr/>
            </a:pPr>
            <a:r>
              <a:rPr lang="en-US"/>
              <a:t>Zeroth Review</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379B2829-DA13-4801-8FBD-6D5729CB9593}" type="slidenum">
              <a:rPr lang="en-US" altLang="en-US"/>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a:lvl1pPr>
          </a:lstStyle>
          <a:p>
            <a:pPr>
              <a:defRPr/>
            </a:pPr>
            <a:r>
              <a:rPr lang="en-US"/>
              <a:t>Zeroth Review</a:t>
            </a:r>
          </a:p>
        </p:txBody>
      </p:sp>
      <p:sp>
        <p:nvSpPr>
          <p:cNvPr id="6"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7" name="Rectangle 8"/>
          <p:cNvSpPr>
            <a:spLocks noGrp="1" noChangeArrowheads="1"/>
          </p:cNvSpPr>
          <p:nvPr>
            <p:ph type="sldNum" sz="quarter" idx="12"/>
          </p:nvPr>
        </p:nvSpPr>
        <p:spPr/>
        <p:txBody>
          <a:bodyPr/>
          <a:lstStyle>
            <a:lvl1pPr>
              <a:defRPr/>
            </a:lvl1pPr>
          </a:lstStyle>
          <a:p>
            <a:pPr>
              <a:defRPr/>
            </a:pPr>
            <a:fld id="{B5B0EEF8-84AE-4BCB-9844-5B22523396C9}" type="slidenum">
              <a:rPr lang="en-US" altLang="en-US"/>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5367E6EB-B6CA-430B-8761-75C737CF7AF1}" type="slidenum">
              <a:rPr lang="en-US" altLang="en-US"/>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r>
              <a:rPr lang="en-US"/>
              <a:t>Zeroth Review</a:t>
            </a:r>
          </a:p>
        </p:txBody>
      </p:sp>
      <p:sp>
        <p:nvSpPr>
          <p:cNvPr id="5" name="Rectangle 7"/>
          <p:cNvSpPr>
            <a:spLocks noGrp="1" noChangeArrowheads="1"/>
          </p:cNvSpPr>
          <p:nvPr>
            <p:ph type="ftr" sz="quarter" idx="11"/>
          </p:nvPr>
        </p:nvSpPr>
        <p:spPr/>
        <p:txBody>
          <a:bodyPr/>
          <a:lstStyle>
            <a:lvl1pPr>
              <a:defRPr/>
            </a:lvl1pPr>
          </a:lstStyle>
          <a:p>
            <a:pPr>
              <a:defRPr/>
            </a:pPr>
            <a:r>
              <a:rPr lang="en-US"/>
              <a:t>Department of Computer Science and Engineering</a:t>
            </a:r>
          </a:p>
        </p:txBody>
      </p:sp>
      <p:sp>
        <p:nvSpPr>
          <p:cNvPr id="6" name="Rectangle 8"/>
          <p:cNvSpPr>
            <a:spLocks noGrp="1" noChangeArrowheads="1"/>
          </p:cNvSpPr>
          <p:nvPr>
            <p:ph type="sldNum" sz="quarter" idx="12"/>
          </p:nvPr>
        </p:nvSpPr>
        <p:spPr/>
        <p:txBody>
          <a:bodyPr/>
          <a:lstStyle>
            <a:lvl1pPr>
              <a:defRPr/>
            </a:lvl1pPr>
          </a:lstStyle>
          <a:p>
            <a:pPr>
              <a:defRPr/>
            </a:pPr>
            <a:fld id="{3031276A-AAE7-4DAF-B5DC-CD9EE96B703D}" type="slidenum">
              <a:rPr lang="en-US" altLang="en-US"/>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1"/>
            <a:ext cx="10668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en-US" altLang="en-US"/>
              <a:t>Click to edit Master title style</a:t>
            </a:r>
          </a:p>
        </p:txBody>
      </p:sp>
      <p:sp>
        <p:nvSpPr>
          <p:cNvPr id="1027" name="Rectangle 3"/>
          <p:cNvSpPr>
            <a:spLocks noGrp="1" noChangeArrowheads="1"/>
          </p:cNvSpPr>
          <p:nvPr>
            <p:ph type="body" idx="1"/>
          </p:nvPr>
        </p:nvSpPr>
        <p:spPr bwMode="auto">
          <a:xfrm>
            <a:off x="755651" y="17526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AutoShape 4"/>
          <p:cNvSpPr>
            <a:spLocks noChangeArrowheads="1"/>
          </p:cNvSpPr>
          <p:nvPr/>
        </p:nvSpPr>
        <p:spPr bwMode="auto">
          <a:xfrm>
            <a:off x="812800" y="1566864"/>
            <a:ext cx="10610851"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ln>
        </p:spPr>
        <p:txBody>
          <a:bodyPr/>
          <a:lstStyle/>
          <a:p>
            <a:endParaRPr lang="en-IN" sz="1800"/>
          </a:p>
        </p:txBody>
      </p:sp>
      <p:sp>
        <p:nvSpPr>
          <p:cNvPr id="1029" name="Line 5"/>
          <p:cNvSpPr>
            <a:spLocks noChangeShapeType="1"/>
          </p:cNvSpPr>
          <p:nvPr/>
        </p:nvSpPr>
        <p:spPr bwMode="auto">
          <a:xfrm flipV="1">
            <a:off x="812800" y="6172200"/>
            <a:ext cx="10566400" cy="0"/>
          </a:xfrm>
          <a:prstGeom prst="line">
            <a:avLst/>
          </a:prstGeom>
          <a:noFill/>
          <a:ln w="3175">
            <a:solidFill>
              <a:schemeClr val="accent2"/>
            </a:solidFill>
            <a:round/>
          </a:ln>
          <a:extLst>
            <a:ext uri="{909E8E84-426E-40DD-AFC4-6F175D3DCCD1}">
              <a14:hiddenFill xmlns:a14="http://schemas.microsoft.com/office/drawing/2010/main">
                <a:noFill/>
              </a14:hiddenFill>
            </a:ext>
          </a:extLst>
        </p:spPr>
        <p:txBody>
          <a:bodyPr/>
          <a:lstStyle/>
          <a:p>
            <a:endParaRPr lang="en-IN" sz="1800"/>
          </a:p>
        </p:txBody>
      </p:sp>
      <p:sp>
        <p:nvSpPr>
          <p:cNvPr id="4102"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cs typeface="+mn-cs"/>
              </a:defRPr>
            </a:lvl1pPr>
          </a:lstStyle>
          <a:p>
            <a:pPr>
              <a:defRPr/>
            </a:pPr>
            <a:r>
              <a:rPr lang="en-US"/>
              <a:t>Zeroth Review</a:t>
            </a:r>
          </a:p>
        </p:txBody>
      </p:sp>
      <p:sp>
        <p:nvSpPr>
          <p:cNvPr id="4103"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cs typeface="+mn-cs"/>
              </a:defRPr>
            </a:lvl1pPr>
          </a:lstStyle>
          <a:p>
            <a:pPr>
              <a:defRPr/>
            </a:pPr>
            <a:r>
              <a:rPr lang="en-US"/>
              <a:t>Department of Computer Science and Engineering</a:t>
            </a:r>
          </a:p>
        </p:txBody>
      </p:sp>
      <p:sp>
        <p:nvSpPr>
          <p:cNvPr id="4104"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smtClean="0"/>
            </a:lvl1pPr>
          </a:lstStyle>
          <a:p>
            <a:pPr>
              <a:defRPr/>
            </a:pPr>
            <a:fld id="{756AFA5A-A15D-402B-9810-66A481E98194}" type="slidenum">
              <a:rPr lang="en-US" altLang="en-US"/>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defRPr>
      </a:lvl2pPr>
      <a:lvl3pPr algn="l" rtl="0" eaLnBrk="0" fontAlgn="base" hangingPunct="0">
        <a:spcBef>
          <a:spcPct val="0"/>
        </a:spcBef>
        <a:spcAft>
          <a:spcPct val="0"/>
        </a:spcAft>
        <a:defRPr sz="3800">
          <a:solidFill>
            <a:schemeClr val="tx2"/>
          </a:solidFill>
          <a:latin typeface="Verdana" panose="020B0604030504040204" pitchFamily="34" charset="0"/>
        </a:defRPr>
      </a:lvl3pPr>
      <a:lvl4pPr algn="l" rtl="0" eaLnBrk="0" fontAlgn="base" hangingPunct="0">
        <a:spcBef>
          <a:spcPct val="0"/>
        </a:spcBef>
        <a:spcAft>
          <a:spcPct val="0"/>
        </a:spcAft>
        <a:defRPr sz="3800">
          <a:solidFill>
            <a:schemeClr val="tx2"/>
          </a:solidFill>
          <a:latin typeface="Verdana" panose="020B0604030504040204" pitchFamily="34" charset="0"/>
        </a:defRPr>
      </a:lvl4pPr>
      <a:lvl5pPr algn="l" rtl="0" eaLnBrk="0" fontAlgn="base" hangingPunct="0">
        <a:spcBef>
          <a:spcPct val="0"/>
        </a:spcBef>
        <a:spcAft>
          <a:spcPct val="0"/>
        </a:spcAft>
        <a:defRPr sz="3800">
          <a:solidFill>
            <a:schemeClr val="tx2"/>
          </a:solidFill>
          <a:latin typeface="Verdana" panose="020B0604030504040204" pitchFamily="34" charset="0"/>
        </a:defRPr>
      </a:lvl5pPr>
      <a:lvl6pPr marL="457200" algn="l" rtl="0" fontAlgn="base">
        <a:spcBef>
          <a:spcPct val="0"/>
        </a:spcBef>
        <a:spcAft>
          <a:spcPct val="0"/>
        </a:spcAft>
        <a:defRPr sz="3800">
          <a:solidFill>
            <a:schemeClr val="tx2"/>
          </a:solidFill>
          <a:latin typeface="Verdana" panose="020B0604030504040204" pitchFamily="34" charset="0"/>
        </a:defRPr>
      </a:lvl6pPr>
      <a:lvl7pPr marL="914400" algn="l" rtl="0" fontAlgn="base">
        <a:spcBef>
          <a:spcPct val="0"/>
        </a:spcBef>
        <a:spcAft>
          <a:spcPct val="0"/>
        </a:spcAft>
        <a:defRPr sz="3800">
          <a:solidFill>
            <a:schemeClr val="tx2"/>
          </a:solidFill>
          <a:latin typeface="Verdana" panose="020B0604030504040204" pitchFamily="34" charset="0"/>
        </a:defRPr>
      </a:lvl7pPr>
      <a:lvl8pPr marL="1371600" algn="l" rtl="0" fontAlgn="base">
        <a:spcBef>
          <a:spcPct val="0"/>
        </a:spcBef>
        <a:spcAft>
          <a:spcPct val="0"/>
        </a:spcAft>
        <a:defRPr sz="3800">
          <a:solidFill>
            <a:schemeClr val="tx2"/>
          </a:solidFill>
          <a:latin typeface="Verdana" panose="020B0604030504040204" pitchFamily="34" charset="0"/>
        </a:defRPr>
      </a:lvl8pPr>
      <a:lvl9pPr marL="1828800" algn="l" rtl="0" fontAlgn="base">
        <a:spcBef>
          <a:spcPct val="0"/>
        </a:spcBef>
        <a:spcAft>
          <a:spcPct val="0"/>
        </a:spcAft>
        <a:defRPr sz="3800">
          <a:solidFill>
            <a:schemeClr val="tx2"/>
          </a:solidFill>
          <a:latin typeface="Verdana" panose="020B0604030504040204"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9" name="Title 1"/>
          <p:cNvSpPr txBox="1"/>
          <p:nvPr/>
        </p:nvSpPr>
        <p:spPr>
          <a:xfrm>
            <a:off x="789712" y="2530618"/>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3200" b="1" dirty="0">
                <a:solidFill>
                  <a:srgbClr val="7030A0"/>
                </a:solidFill>
                <a:latin typeface="Verdana" panose="020B0604030504040204" pitchFamily="34" charset="0"/>
              </a:rPr>
              <a:t>Real-Time Ingredient Recognition and Recipe Generator  </a:t>
            </a:r>
          </a:p>
        </p:txBody>
      </p:sp>
      <p:sp>
        <p:nvSpPr>
          <p:cNvPr id="10" name="TextBox 1"/>
          <p:cNvSpPr txBox="1">
            <a:spLocks noChangeArrowheads="1"/>
          </p:cNvSpPr>
          <p:nvPr/>
        </p:nvSpPr>
        <p:spPr bwMode="auto">
          <a:xfrm>
            <a:off x="514349" y="5183902"/>
            <a:ext cx="512717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None/>
            </a:pPr>
            <a:r>
              <a:rPr lang="en-IN" altLang="en-US" sz="1800" b="1" dirty="0" err="1">
                <a:solidFill>
                  <a:srgbClr val="FF0000"/>
                </a:solidFill>
              </a:rPr>
              <a:t>Mrs.Y.Nirmala</a:t>
            </a:r>
            <a:r>
              <a:rPr lang="en-IN" altLang="en-US" sz="1800" b="1" dirty="0">
                <a:solidFill>
                  <a:srgbClr val="FF0000"/>
                </a:solidFill>
              </a:rPr>
              <a:t> Anandhi M.E.,(Ph.D.,)</a:t>
            </a:r>
          </a:p>
          <a:p>
            <a:pPr>
              <a:spcBef>
                <a:spcPct val="0"/>
              </a:spcBef>
              <a:buClrTx/>
              <a:buNone/>
            </a:pPr>
            <a:r>
              <a:rPr lang="en-IN" altLang="en-US" sz="1800" b="1" dirty="0">
                <a:solidFill>
                  <a:srgbClr val="FF0000"/>
                </a:solidFill>
              </a:rPr>
              <a:t>Assistant Professor (SS) </a:t>
            </a:r>
          </a:p>
        </p:txBody>
      </p:sp>
      <p:sp>
        <p:nvSpPr>
          <p:cNvPr id="11" name="TextBox 1"/>
          <p:cNvSpPr txBox="1">
            <a:spLocks noChangeArrowheads="1"/>
          </p:cNvSpPr>
          <p:nvPr/>
        </p:nvSpPr>
        <p:spPr bwMode="auto">
          <a:xfrm>
            <a:off x="7494815" y="5115005"/>
            <a:ext cx="441687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IN" altLang="en-US" sz="2000" b="1" dirty="0">
                <a:solidFill>
                  <a:srgbClr val="FF0000"/>
                </a:solidFill>
              </a:rPr>
              <a:t>Sanjay B (221801045)</a:t>
            </a:r>
          </a:p>
          <a:p>
            <a:pPr>
              <a:spcBef>
                <a:spcPct val="0"/>
              </a:spcBef>
              <a:buClrTx/>
              <a:buFontTx/>
              <a:buNone/>
            </a:pPr>
            <a:r>
              <a:rPr lang="en-IN" altLang="en-US" sz="2000" b="1" dirty="0">
                <a:solidFill>
                  <a:srgbClr val="FF0000"/>
                </a:solidFill>
              </a:rPr>
              <a:t>Soorya B (221801051)</a:t>
            </a:r>
          </a:p>
          <a:p>
            <a:pPr>
              <a:spcBef>
                <a:spcPct val="0"/>
              </a:spcBef>
              <a:buClrTx/>
              <a:buFontTx/>
              <a:buNone/>
            </a:pPr>
            <a:r>
              <a:rPr lang="en-IN" altLang="en-US" sz="2000" b="1" dirty="0" err="1">
                <a:solidFill>
                  <a:srgbClr val="FF0000"/>
                </a:solidFill>
              </a:rPr>
              <a:t>Thofiq</a:t>
            </a:r>
            <a:r>
              <a:rPr lang="en-IN" altLang="en-US" sz="2000" b="1" dirty="0">
                <a:solidFill>
                  <a:srgbClr val="FF0000"/>
                </a:solidFill>
              </a:rPr>
              <a:t> Gani M (221801057)</a:t>
            </a:r>
          </a:p>
          <a:p>
            <a:pPr>
              <a:spcBef>
                <a:spcPct val="0"/>
              </a:spcBef>
              <a:buClrTx/>
              <a:buFontTx/>
              <a:buNone/>
            </a:pPr>
            <a:endParaRPr lang="en-IN" altLang="en-US" sz="2000" b="1" dirty="0">
              <a:solidFill>
                <a:srgbClr val="FF0000"/>
              </a:solidFill>
            </a:endParaRPr>
          </a:p>
        </p:txBody>
      </p:sp>
      <p:sp>
        <p:nvSpPr>
          <p:cNvPr id="15" name="Title 1"/>
          <p:cNvSpPr txBox="1"/>
          <p:nvPr/>
        </p:nvSpPr>
        <p:spPr>
          <a:xfrm>
            <a:off x="708891" y="1213137"/>
            <a:ext cx="10515600" cy="722457"/>
          </a:xfrm>
          <a:prstGeom prst="rect">
            <a:avLst/>
          </a:prstGeom>
        </p:spPr>
        <p:txBody>
          <a:bodyPr vert="horz" lIns="91440" tIns="45720" rIns="91440" bIns="45720" rtlCol="0" anchor="ctr">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800" b="1" dirty="0">
                <a:solidFill>
                  <a:srgbClr val="002060"/>
                </a:solidFill>
                <a:latin typeface="Verdana" panose="020B0604030504040204" pitchFamily="34" charset="0"/>
                <a:ea typeface="+mn-ea"/>
                <a:cs typeface="+mn-cs"/>
              </a:rPr>
              <a:t>Department of</a:t>
            </a:r>
            <a:r>
              <a:rPr lang="en-US" altLang="en-IN" sz="2800" b="1" dirty="0">
                <a:solidFill>
                  <a:srgbClr val="002060"/>
                </a:solidFill>
                <a:latin typeface="Verdana" panose="020B0604030504040204" pitchFamily="34" charset="0"/>
                <a:ea typeface="+mn-ea"/>
                <a:cs typeface="+mn-cs"/>
              </a:rPr>
              <a:t> Artificial Intelligence and Data Science</a:t>
            </a:r>
            <a:r>
              <a:rPr lang="en-IN" sz="2800" b="1" dirty="0">
                <a:solidFill>
                  <a:srgbClr val="002060"/>
                </a:solidFill>
                <a:latin typeface="Verdana" panose="020B0604030504040204" pitchFamily="34" charset="0"/>
                <a:ea typeface="+mn-ea"/>
                <a:cs typeface="+mn-cs"/>
              </a:rPr>
              <a:t> </a:t>
            </a:r>
          </a:p>
        </p:txBody>
      </p:sp>
      <p:pic>
        <p:nvPicPr>
          <p:cNvPr id="8" name="Picture 1"/>
          <p:cNvPicPr>
            <a:picLocks noChangeAspect="1"/>
          </p:cNvPicPr>
          <p:nvPr/>
        </p:nvPicPr>
        <p:blipFill>
          <a:blip r:embed="rId4"/>
          <a:stretch>
            <a:fillRect/>
          </a:stretch>
        </p:blipFill>
        <p:spPr>
          <a:xfrm>
            <a:off x="151765" y="149225"/>
            <a:ext cx="2769235" cy="1054100"/>
          </a:xfrm>
          <a:prstGeom prst="rect">
            <a:avLst/>
          </a:prstGeom>
          <a:noFill/>
          <a:ln>
            <a:noFill/>
          </a:ln>
        </p:spPr>
      </p:pic>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3200" b="1" dirty="0">
                <a:solidFill>
                  <a:srgbClr val="FF0000"/>
                </a:solidFill>
              </a:rPr>
              <a:t>Problem Statement and Motivation</a:t>
            </a:r>
            <a:endParaRPr lang="en-IN" sz="2800" dirty="0"/>
          </a:p>
        </p:txBody>
      </p:sp>
      <p:sp>
        <p:nvSpPr>
          <p:cNvPr id="3" name="Content Placeholder 2"/>
          <p:cNvSpPr>
            <a:spLocks noGrp="1"/>
          </p:cNvSpPr>
          <p:nvPr>
            <p:ph idx="1"/>
          </p:nvPr>
        </p:nvSpPr>
        <p:spPr/>
        <p:txBody>
          <a:bodyPr/>
          <a:lstStyle/>
          <a:p>
            <a:pPr lvl="0" algn="just">
              <a:buClr>
                <a:srgbClr val="CC0000"/>
              </a:buClr>
              <a:defRPr/>
            </a:pPr>
            <a:r>
              <a:rPr kumimoji="0" lang="en-IN" altLang="en-US" sz="1800" b="1" i="0" u="none" strike="noStrike" kern="0" cap="none" spc="0" normalizeH="0" baseline="0" noProof="0" dirty="0">
                <a:ln>
                  <a:noFill/>
                </a:ln>
                <a:solidFill>
                  <a:srgbClr val="000000"/>
                </a:solidFill>
                <a:effectLst/>
                <a:uLnTx/>
                <a:uFillTx/>
                <a:latin typeface="Verdana" panose="020B0604030504040204"/>
                <a:ea typeface="+mn-ea"/>
                <a:cs typeface="+mn-cs"/>
              </a:rPr>
              <a:t>Problem Statement : </a:t>
            </a:r>
            <a:r>
              <a:rPr lang="en-US" sz="1800" dirty="0"/>
              <a:t>Manual recipe planning is often slow and inefficient, causing many ingredients to remain unused and ultimately wasted. Existing recipe applications do not support real-time ingredient recognition from images, nor can they dynamically generate personalized recipes based on what users already have. This lack of automation reduces convenience and limits effective meal preparation, especially for users seeking quick, accurate cooking guidance.</a:t>
            </a:r>
          </a:p>
          <a:p>
            <a:pPr lvl="0" algn="just">
              <a:buClr>
                <a:srgbClr val="CC0000"/>
              </a:buClr>
              <a:defRPr/>
            </a:pPr>
            <a:endParaRPr lang="en-US" sz="1800" dirty="0"/>
          </a:p>
          <a:p>
            <a:pPr lvl="0">
              <a:buClr>
                <a:srgbClr val="CC0000"/>
              </a:buClr>
              <a:defRPr/>
            </a:pPr>
            <a:r>
              <a:rPr kumimoji="0" lang="en-IN" altLang="en-US" sz="1800" b="1" i="0" u="none" strike="noStrike" kern="0" cap="none" spc="0" normalizeH="0" baseline="0" noProof="0" dirty="0">
                <a:ln>
                  <a:noFill/>
                </a:ln>
                <a:solidFill>
                  <a:srgbClr val="000000"/>
                </a:solidFill>
                <a:effectLst/>
                <a:uLnTx/>
                <a:uFillTx/>
                <a:latin typeface="Verdana" panose="020B0604030504040204"/>
                <a:ea typeface="+mn-ea"/>
                <a:cs typeface="+mn-cs"/>
              </a:rPr>
              <a:t>Motivation : </a:t>
            </a:r>
            <a:r>
              <a:rPr lang="en-US" sz="1800" dirty="0"/>
              <a:t>There is a growing need for smart kitchen tools that help people reduce food waste and make cooking easier. Many users struggle to decide what to cook with the ingredients they already have. An AI-based system that can recognize ingredients and suggest recipes instantly can make meal preparation faster, simpler, and more efficient.</a:t>
            </a:r>
            <a:br>
              <a:rPr kumimoji="0" lang="en-IN" altLang="en-US" sz="1800" i="0" u="none" strike="noStrike" kern="0" cap="none" spc="0" normalizeH="0" baseline="0" noProof="0" dirty="0">
                <a:ln>
                  <a:noFill/>
                </a:ln>
                <a:solidFill>
                  <a:srgbClr val="000000"/>
                </a:solidFill>
                <a:effectLst/>
                <a:uLnTx/>
                <a:uFillTx/>
                <a:latin typeface="Verdana" panose="020B0604030504040204"/>
                <a:ea typeface="+mn-ea"/>
                <a:cs typeface="+mn-cs"/>
              </a:rPr>
            </a:br>
            <a:endParaRPr kumimoji="0" lang="en-IN" altLang="en-US" sz="1800" i="0" u="none" strike="noStrike" kern="0" cap="none" spc="0" normalizeH="0" baseline="0" noProof="0" dirty="0">
              <a:ln>
                <a:noFill/>
              </a:ln>
              <a:solidFill>
                <a:srgbClr val="000000"/>
              </a:solidFill>
              <a:effectLst/>
              <a:uLnTx/>
              <a:uFillTx/>
              <a:latin typeface="Verdana" panose="020B0604030504040204"/>
              <a:ea typeface="+mn-ea"/>
              <a:cs typeface="+mn-cs"/>
            </a:endParaRPr>
          </a:p>
          <a:p>
            <a:pPr marL="0" indent="0">
              <a:buNone/>
            </a:pPr>
            <a:endParaRPr lang="en-IN" dirty="0"/>
          </a:p>
        </p:txBody>
      </p:sp>
      <p:sp>
        <p:nvSpPr>
          <p:cNvPr id="4" name="Date Placeholder 3"/>
          <p:cNvSpPr>
            <a:spLocks noGrp="1"/>
          </p:cNvSpPr>
          <p:nvPr>
            <p:ph type="dt" sz="half" idx="10"/>
          </p:nvPr>
        </p:nvSpPr>
        <p:spPr/>
        <p:txBody>
          <a:bodyPr/>
          <a:lstStyle/>
          <a:p>
            <a:r>
              <a:rPr lang="en-US" altLang="en-IN"/>
              <a:t>End Sem</a:t>
            </a:r>
          </a:p>
        </p:txBody>
      </p:sp>
      <p:sp>
        <p:nvSpPr>
          <p:cNvPr id="5" name="Footer Placeholder 4"/>
          <p:cNvSpPr>
            <a:spLocks noGrp="1"/>
          </p:cNvSpPr>
          <p:nvPr>
            <p:ph type="ftr" sz="quarter" idx="11"/>
          </p:nvPr>
        </p:nvSpPr>
        <p:spPr/>
        <p:txBody>
          <a:bodyPr/>
          <a:lstStyle/>
          <a:p>
            <a:r>
              <a:rPr lang="en-US">
                <a:sym typeface="+mn-ea"/>
              </a:rPr>
              <a:t>Department of </a:t>
            </a:r>
            <a:r>
              <a:rPr lang="en-US" altLang="en-IN" dirty="0">
                <a:solidFill>
                  <a:srgbClr val="002060"/>
                </a:solidFill>
                <a:latin typeface="Verdana" panose="020B0604030504040204" pitchFamily="34" charset="0"/>
                <a:sym typeface="+mn-ea"/>
              </a:rPr>
              <a:t>Artificial Intelligence and Data Science</a:t>
            </a:r>
            <a:endParaRPr lang="en-IN"/>
          </a:p>
          <a:p>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2</a:t>
            </a:fld>
            <a:endParaRPr lang="en-IN"/>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3200" b="1" dirty="0">
                <a:solidFill>
                  <a:srgbClr val="FF0000"/>
                </a:solidFill>
              </a:rPr>
              <a:t>Existing System</a:t>
            </a:r>
            <a:endParaRPr lang="en-IN" sz="2800" dirty="0"/>
          </a:p>
        </p:txBody>
      </p:sp>
      <p:sp>
        <p:nvSpPr>
          <p:cNvPr id="3" name="Content Placeholder 2"/>
          <p:cNvSpPr>
            <a:spLocks noGrp="1"/>
          </p:cNvSpPr>
          <p:nvPr>
            <p:ph idx="1"/>
          </p:nvPr>
        </p:nvSpPr>
        <p:spPr/>
        <p:txBody>
          <a:bodyPr/>
          <a:lstStyle/>
          <a:p>
            <a:pPr algn="just"/>
            <a:r>
              <a:rPr lang="en-US" sz="1800" b="1" dirty="0"/>
              <a:t>Manual Ingredient Input:</a:t>
            </a:r>
            <a:r>
              <a:rPr lang="en-US" sz="1800" dirty="0"/>
              <a:t> Most apps require users to </a:t>
            </a:r>
            <a:r>
              <a:rPr lang="en-US" sz="1800" b="1" dirty="0"/>
              <a:t>type ingredients manually</a:t>
            </a:r>
            <a:r>
              <a:rPr lang="en-US" sz="1800" dirty="0"/>
              <a:t>, which is time-consuming and prone to errors.</a:t>
            </a:r>
          </a:p>
          <a:p>
            <a:pPr algn="just"/>
            <a:r>
              <a:rPr lang="en-US" sz="1800" b="1" dirty="0"/>
              <a:t>No Real-Time Detection:</a:t>
            </a:r>
            <a:r>
              <a:rPr lang="en-US" sz="1800" dirty="0"/>
              <a:t> Lack of </a:t>
            </a:r>
            <a:r>
              <a:rPr lang="en-US" sz="1800" b="1" dirty="0"/>
              <a:t>live camera-based recognition</a:t>
            </a:r>
            <a:r>
              <a:rPr lang="en-US" sz="1800" dirty="0"/>
              <a:t>, forcing users to search recipes separately after checking ingredients.</a:t>
            </a:r>
          </a:p>
          <a:p>
            <a:pPr algn="just"/>
            <a:r>
              <a:rPr lang="en-US" sz="1800" b="1" dirty="0"/>
              <a:t>No AI-Powered Suggestions:</a:t>
            </a:r>
            <a:r>
              <a:rPr lang="en-US" sz="1800" dirty="0"/>
              <a:t> Systems rely on </a:t>
            </a:r>
            <a:r>
              <a:rPr lang="en-US" sz="1800" b="1" dirty="0"/>
              <a:t>keyword matching</a:t>
            </a:r>
            <a:r>
              <a:rPr lang="en-US" sz="1800" dirty="0"/>
              <a:t> instead of smart, context-aware recipe recommendations.</a:t>
            </a:r>
          </a:p>
          <a:p>
            <a:pPr algn="just"/>
            <a:r>
              <a:rPr lang="en-US" sz="1800" b="1" dirty="0"/>
              <a:t>Static Recipe Databases:</a:t>
            </a:r>
            <a:r>
              <a:rPr lang="en-US" sz="1800" dirty="0"/>
              <a:t> Recipes are </a:t>
            </a:r>
            <a:r>
              <a:rPr lang="en-US" sz="1800" b="1" dirty="0"/>
              <a:t>pre-defined</a:t>
            </a:r>
            <a:r>
              <a:rPr lang="en-US" sz="1800" dirty="0"/>
              <a:t>, not dynamically generated based on detected ingredients, limiting flexibility.</a:t>
            </a:r>
          </a:p>
          <a:p>
            <a:pPr algn="just"/>
            <a:r>
              <a:rPr lang="en-US" sz="1800" b="1" dirty="0"/>
              <a:t>No Waste Reduction Focus:</a:t>
            </a:r>
            <a:r>
              <a:rPr lang="en-US" sz="1800" dirty="0"/>
              <a:t> Most platforms don’t prioritize </a:t>
            </a:r>
            <a:r>
              <a:rPr lang="en-US" sz="1800" b="1" dirty="0"/>
              <a:t>expiring or leftover ingredients</a:t>
            </a:r>
            <a:r>
              <a:rPr lang="en-US" sz="1800" dirty="0"/>
              <a:t>, missing sustainability opportunities.</a:t>
            </a:r>
          </a:p>
          <a:p>
            <a:pPr lvl="0">
              <a:buClr>
                <a:srgbClr val="CC0000"/>
              </a:buClr>
              <a:defRPr/>
            </a:pPr>
            <a:r>
              <a:rPr lang="en-US" sz="1800" b="1" dirty="0"/>
              <a:t>Limited Personalization:</a:t>
            </a:r>
            <a:r>
              <a:rPr lang="en-US" sz="1800" dirty="0"/>
              <a:t> Existing systems do not adapt </a:t>
            </a:r>
            <a:r>
              <a:rPr lang="en-US" sz="1800" b="1" dirty="0"/>
              <a:t>recipes based on user preferences</a:t>
            </a:r>
            <a:r>
              <a:rPr lang="en-US" sz="1800" dirty="0"/>
              <a:t>, dietary needs, or cooking skill level, reducing user satisfaction and practicality.</a:t>
            </a:r>
            <a:br>
              <a:rPr kumimoji="0" lang="en-IN" altLang="en-US" sz="1800" b="0" i="0" u="none" strike="noStrike" kern="0" cap="none" spc="0" normalizeH="0" baseline="0" noProof="0" dirty="0">
                <a:ln>
                  <a:noFill/>
                </a:ln>
                <a:solidFill>
                  <a:srgbClr val="000000"/>
                </a:solidFill>
                <a:effectLst/>
                <a:uLnTx/>
                <a:uFillTx/>
                <a:latin typeface="Verdana" panose="020B0604030504040204"/>
                <a:ea typeface="+mn-ea"/>
                <a:cs typeface="+mn-cs"/>
              </a:rPr>
            </a:br>
            <a:endParaRPr kumimoji="0" lang="en-IN" altLang="en-US" sz="1800" b="0" i="0" u="none" strike="noStrike" kern="0" cap="none" spc="0" normalizeH="0" baseline="0" noProof="0" dirty="0">
              <a:ln>
                <a:noFill/>
              </a:ln>
              <a:solidFill>
                <a:srgbClr val="000000"/>
              </a:solidFill>
              <a:effectLst/>
              <a:uLnTx/>
              <a:uFillTx/>
              <a:latin typeface="Verdana" panose="020B0604030504040204"/>
              <a:ea typeface="+mn-ea"/>
              <a:cs typeface="+mn-cs"/>
            </a:endParaRPr>
          </a:p>
          <a:p>
            <a:pPr marL="0" indent="0">
              <a:buNone/>
            </a:pPr>
            <a:endParaRPr lang="en-IN" sz="1800" dirty="0"/>
          </a:p>
        </p:txBody>
      </p:sp>
      <p:sp>
        <p:nvSpPr>
          <p:cNvPr id="4" name="Date Placeholder 3"/>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p:cNvSpPr>
            <a:spLocks noGrp="1"/>
          </p:cNvSpPr>
          <p:nvPr>
            <p:ph type="ftr" sz="quarter" idx="11"/>
          </p:nvPr>
        </p:nvSpPr>
        <p:spPr/>
        <p:txBody>
          <a:bodyPr/>
          <a:lstStyle/>
          <a:p>
            <a:r>
              <a:rPr lang="en-US">
                <a:sym typeface="+mn-ea"/>
              </a:rPr>
              <a:t>Department of </a:t>
            </a:r>
            <a:r>
              <a:rPr lang="en-US" altLang="en-IN" dirty="0">
                <a:solidFill>
                  <a:srgbClr val="002060"/>
                </a:solidFill>
                <a:latin typeface="Verdana" panose="020B0604030504040204" pitchFamily="34" charset="0"/>
                <a:sym typeface="+mn-ea"/>
              </a:rPr>
              <a:t>Artificial Intelligence and Data Science</a:t>
            </a:r>
            <a:endParaRPr lang="en-IN"/>
          </a:p>
          <a:p>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3</a:t>
            </a:fld>
            <a:endParaRPr lang="en-IN"/>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3200" b="1" dirty="0">
                <a:solidFill>
                  <a:srgbClr val="FF0000"/>
                </a:solidFill>
              </a:rPr>
              <a:t>Objectives</a:t>
            </a:r>
            <a:endParaRPr lang="en-IN" sz="2800" dirty="0"/>
          </a:p>
        </p:txBody>
      </p:sp>
      <p:sp>
        <p:nvSpPr>
          <p:cNvPr id="3" name="Content Placeholder 2"/>
          <p:cNvSpPr>
            <a:spLocks noGrp="1"/>
          </p:cNvSpPr>
          <p:nvPr>
            <p:ph idx="1"/>
          </p:nvPr>
        </p:nvSpPr>
        <p:spPr/>
        <p:txBody>
          <a:bodyPr/>
          <a:lstStyle/>
          <a:p>
            <a:pPr marL="0" lvl="0" indent="0" algn="just">
              <a:buClr>
                <a:srgbClr val="CC0000"/>
              </a:buClr>
              <a:buNone/>
              <a:defRPr/>
            </a:pPr>
            <a:r>
              <a:rPr lang="en-US" sz="1800" dirty="0"/>
              <a:t>The objective of this project is to develop an AI-driven system that combines </a:t>
            </a:r>
            <a:r>
              <a:rPr lang="en-US" sz="1800" b="1" dirty="0"/>
              <a:t>real-time ingredient detection </a:t>
            </a:r>
            <a:r>
              <a:rPr lang="en-US" sz="1800" dirty="0"/>
              <a:t>with </a:t>
            </a:r>
            <a:r>
              <a:rPr lang="en-US" sz="1800" b="1" dirty="0"/>
              <a:t>AI-powered recipe generation</a:t>
            </a:r>
            <a:r>
              <a:rPr lang="en-US" sz="1800" dirty="0"/>
              <a:t> to instantly recognize food items from images or live camera feeds and generate personalized recipes based on available ingredients, user preferences, and dietary restrictions. This system aims to </a:t>
            </a:r>
            <a:r>
              <a:rPr lang="en-US" sz="1800" b="1" dirty="0"/>
              <a:t>simplify meal planning, reduce food waste by suggesting recipes for unused ingredients, and enhance cooking efficiency</a:t>
            </a:r>
            <a:r>
              <a:rPr lang="en-US" sz="1800" dirty="0"/>
              <a:t>—providing a smart, sustainable solution for home cooks, busy professionals, and environmentally conscious users while promoting resource optimization in kitchens.</a:t>
            </a:r>
            <a:endParaRPr lang="en-IN" sz="1800" dirty="0"/>
          </a:p>
        </p:txBody>
      </p:sp>
      <p:sp>
        <p:nvSpPr>
          <p:cNvPr id="4" name="Date Placeholder 3"/>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4</a:t>
            </a:fld>
            <a:endParaRPr lang="en-IN"/>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3200" b="1" dirty="0">
                <a:solidFill>
                  <a:srgbClr val="FF0000"/>
                </a:solidFill>
              </a:rPr>
              <a:t>Abstract</a:t>
            </a:r>
            <a:endParaRPr lang="en-IN" sz="2800" dirty="0"/>
          </a:p>
        </p:txBody>
      </p:sp>
      <p:sp>
        <p:nvSpPr>
          <p:cNvPr id="3" name="Content Placeholder 2"/>
          <p:cNvSpPr>
            <a:spLocks noGrp="1"/>
          </p:cNvSpPr>
          <p:nvPr>
            <p:ph idx="1"/>
          </p:nvPr>
        </p:nvSpPr>
        <p:spPr/>
        <p:txBody>
          <a:bodyPr/>
          <a:lstStyle/>
          <a:p>
            <a:pPr marL="0" indent="0" algn="just">
              <a:buNone/>
            </a:pPr>
            <a:r>
              <a:rPr lang="en-US" sz="1800" dirty="0"/>
              <a:t>This project proposes a </a:t>
            </a:r>
            <a:r>
              <a:rPr lang="en-US" sz="1800" b="1" dirty="0"/>
              <a:t>real-time ingredient recognition</a:t>
            </a:r>
            <a:r>
              <a:rPr lang="en-US" sz="1800" dirty="0"/>
              <a:t> and </a:t>
            </a:r>
            <a:r>
              <a:rPr lang="en-US" sz="1800" b="1" dirty="0"/>
              <a:t>recipe generation system</a:t>
            </a:r>
            <a:r>
              <a:rPr lang="en-US" sz="1800" dirty="0"/>
              <a:t> using </a:t>
            </a:r>
            <a:r>
              <a:rPr lang="en-US" sz="1800" b="1" dirty="0"/>
              <a:t>AI-powered object detection</a:t>
            </a:r>
            <a:r>
              <a:rPr lang="en-US" sz="1800" dirty="0"/>
              <a:t> and </a:t>
            </a:r>
            <a:r>
              <a:rPr lang="en-US" sz="1800" b="1" dirty="0"/>
              <a:t>natural language processing</a:t>
            </a:r>
            <a:r>
              <a:rPr lang="en-US" sz="1800" dirty="0"/>
              <a:t>. By leveraging </a:t>
            </a:r>
            <a:r>
              <a:rPr lang="en-US" sz="1800" b="1" dirty="0"/>
              <a:t>computer vision techniques</a:t>
            </a:r>
            <a:r>
              <a:rPr lang="en-US" sz="1800" dirty="0"/>
              <a:t> (e.g., SSD or CNN-based models), the system identifies ingredients from images or live camera feeds, then generates </a:t>
            </a:r>
            <a:r>
              <a:rPr lang="en-US" sz="1800" b="1" dirty="0"/>
              <a:t>personalized recipes</a:t>
            </a:r>
            <a:r>
              <a:rPr lang="en-US" sz="1800" dirty="0"/>
              <a:t> using a </a:t>
            </a:r>
            <a:r>
              <a:rPr lang="en-US" sz="1800" b="1" dirty="0"/>
              <a:t>language model</a:t>
            </a:r>
            <a:r>
              <a:rPr lang="en-US" sz="1800" dirty="0"/>
              <a:t> (e.g., GPT or LLAMA). The solution aims to </a:t>
            </a:r>
            <a:r>
              <a:rPr lang="en-US" sz="1800" b="1" dirty="0"/>
              <a:t>reduce food waste</a:t>
            </a:r>
            <a:r>
              <a:rPr lang="en-US" sz="1800" dirty="0"/>
              <a:t>, </a:t>
            </a:r>
            <a:r>
              <a:rPr lang="en-US" sz="1800" b="1" dirty="0"/>
              <a:t>assist in meal planning</a:t>
            </a:r>
            <a:r>
              <a:rPr lang="en-US" sz="1800" dirty="0"/>
              <a:t>, and </a:t>
            </a:r>
            <a:r>
              <a:rPr lang="en-US" sz="1800" b="1" dirty="0"/>
              <a:t>enhance cooking efficiency</a:t>
            </a:r>
            <a:r>
              <a:rPr lang="en-US" sz="1800" dirty="0"/>
              <a:t> by providing </a:t>
            </a:r>
            <a:r>
              <a:rPr lang="en-US" sz="1800" b="1" dirty="0"/>
              <a:t>instant recipe suggestions</a:t>
            </a:r>
            <a:r>
              <a:rPr lang="en-US" sz="1800" dirty="0"/>
              <a:t> based on available ingredients.</a:t>
            </a:r>
          </a:p>
        </p:txBody>
      </p:sp>
      <p:sp>
        <p:nvSpPr>
          <p:cNvPr id="4" name="Date Placeholder 3"/>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5</a:t>
            </a:fld>
            <a:endParaRPr lang="en-IN"/>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2884453D-C103-C404-AA4E-B7FE0D5B0F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333060-62E6-E340-1BF7-BEEE4FEFBCE9}"/>
              </a:ext>
            </a:extLst>
          </p:cNvPr>
          <p:cNvSpPr>
            <a:spLocks noGrp="1"/>
          </p:cNvSpPr>
          <p:nvPr>
            <p:ph type="title"/>
          </p:nvPr>
        </p:nvSpPr>
        <p:spPr/>
        <p:txBody>
          <a:bodyPr/>
          <a:lstStyle/>
          <a:p>
            <a:r>
              <a:rPr lang="en-IN" altLang="en-US" sz="3200" b="1" dirty="0">
                <a:solidFill>
                  <a:srgbClr val="FF0000"/>
                </a:solidFill>
              </a:rPr>
              <a:t>A</a:t>
            </a:r>
            <a:r>
              <a:rPr lang="en-US" altLang="en-IN" sz="3200" b="1" dirty="0">
                <a:solidFill>
                  <a:srgbClr val="FF0000"/>
                </a:solidFill>
              </a:rPr>
              <a:t>rchitecture(framework)</a:t>
            </a:r>
          </a:p>
        </p:txBody>
      </p:sp>
      <p:sp>
        <p:nvSpPr>
          <p:cNvPr id="3" name="Content Placeholder 2">
            <a:extLst>
              <a:ext uri="{FF2B5EF4-FFF2-40B4-BE49-F238E27FC236}">
                <a16:creationId xmlns:a16="http://schemas.microsoft.com/office/drawing/2014/main" id="{AA686C27-678E-337F-C011-66A7821014FA}"/>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defRPr/>
            </a:pPr>
            <a:br>
              <a:rPr kumimoji="0" lang="en-IN" altLang="en-US" sz="2800" b="0" i="0" u="none" strike="noStrike" kern="0" cap="none" spc="0" normalizeH="0" baseline="0" noProof="0" dirty="0">
                <a:ln>
                  <a:noFill/>
                </a:ln>
                <a:solidFill>
                  <a:srgbClr val="000000"/>
                </a:solidFill>
                <a:effectLst/>
                <a:uLnTx/>
                <a:uFillTx/>
                <a:latin typeface="Verdana" panose="020B0604030504040204"/>
                <a:ea typeface="+mn-ea"/>
                <a:cs typeface="+mn-cs"/>
              </a:rPr>
            </a:br>
            <a:endParaRPr kumimoji="0" lang="en-IN" altLang="en-US" sz="2800" b="0" i="0" u="none" strike="noStrike" kern="0" cap="none" spc="0" normalizeH="0" baseline="0" noProof="0" dirty="0">
              <a:ln>
                <a:noFill/>
              </a:ln>
              <a:solidFill>
                <a:srgbClr val="000000"/>
              </a:solidFill>
              <a:effectLst/>
              <a:uLnTx/>
              <a:uFillTx/>
              <a:latin typeface="Verdana" panose="020B0604030504040204"/>
              <a:ea typeface="+mn-ea"/>
              <a:cs typeface="+mn-cs"/>
            </a:endParaRPr>
          </a:p>
          <a:p>
            <a:pPr marL="0" indent="0">
              <a:buNone/>
            </a:pPr>
            <a:endParaRPr lang="en-IN" dirty="0"/>
          </a:p>
        </p:txBody>
      </p:sp>
      <p:sp>
        <p:nvSpPr>
          <p:cNvPr id="4" name="Date Placeholder 3">
            <a:extLst>
              <a:ext uri="{FF2B5EF4-FFF2-40B4-BE49-F238E27FC236}">
                <a16:creationId xmlns:a16="http://schemas.microsoft.com/office/drawing/2014/main" id="{0B912FD6-CD55-9431-4158-6DA28D093BED}"/>
              </a:ext>
            </a:extLst>
          </p:cNvPr>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a:extLst>
              <a:ext uri="{FF2B5EF4-FFF2-40B4-BE49-F238E27FC236}">
                <a16:creationId xmlns:a16="http://schemas.microsoft.com/office/drawing/2014/main" id="{78394B14-A038-FBEB-0C76-D790BF9D46AC}"/>
              </a:ext>
            </a:extLst>
          </p:cNvPr>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a:extLst>
              <a:ext uri="{FF2B5EF4-FFF2-40B4-BE49-F238E27FC236}">
                <a16:creationId xmlns:a16="http://schemas.microsoft.com/office/drawing/2014/main" id="{7DAE978A-AB56-1A46-395F-9F98F36BA7FA}"/>
              </a:ext>
            </a:extLst>
          </p:cNvPr>
          <p:cNvSpPr>
            <a:spLocks noGrp="1"/>
          </p:cNvSpPr>
          <p:nvPr>
            <p:ph type="sldNum" sz="quarter" idx="12"/>
          </p:nvPr>
        </p:nvSpPr>
        <p:spPr/>
        <p:txBody>
          <a:bodyPr/>
          <a:lstStyle/>
          <a:p>
            <a:fld id="{5AB9ECBD-B4DD-40D5-8D24-9ECCDBB1583E}" type="slidenum">
              <a:rPr lang="en-IN" smtClean="0"/>
              <a:t>6</a:t>
            </a:fld>
            <a:endParaRPr lang="en-IN"/>
          </a:p>
        </p:txBody>
      </p:sp>
      <p:pic>
        <p:nvPicPr>
          <p:cNvPr id="9" name="Picture 8">
            <a:extLst>
              <a:ext uri="{FF2B5EF4-FFF2-40B4-BE49-F238E27FC236}">
                <a16:creationId xmlns:a16="http://schemas.microsoft.com/office/drawing/2014/main" id="{F3247939-CF25-67AF-D4A4-7CFCA5238282}"/>
              </a:ext>
            </a:extLst>
          </p:cNvPr>
          <p:cNvPicPr>
            <a:picLocks noChangeAspect="1"/>
          </p:cNvPicPr>
          <p:nvPr/>
        </p:nvPicPr>
        <p:blipFill>
          <a:blip r:embed="rId4"/>
          <a:stretch>
            <a:fillRect/>
          </a:stretch>
        </p:blipFill>
        <p:spPr>
          <a:xfrm>
            <a:off x="1015093" y="1865313"/>
            <a:ext cx="9753600" cy="4267200"/>
          </a:xfrm>
          <a:prstGeom prst="rect">
            <a:avLst/>
          </a:prstGeom>
        </p:spPr>
      </p:pic>
    </p:spTree>
    <p:extLst>
      <p:ext uri="{BB962C8B-B14F-4D97-AF65-F5344CB8AC3E}">
        <p14:creationId xmlns:p14="http://schemas.microsoft.com/office/powerpoint/2010/main" val="1761759939"/>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3200" b="1" dirty="0">
                <a:solidFill>
                  <a:srgbClr val="FF0000"/>
                </a:solidFill>
              </a:rPr>
              <a:t>A</a:t>
            </a:r>
            <a:r>
              <a:rPr lang="en-US" altLang="en-IN" sz="3200" b="1" dirty="0">
                <a:solidFill>
                  <a:srgbClr val="FF0000"/>
                </a:solidFill>
              </a:rPr>
              <a:t>rchitecture(framework)</a:t>
            </a:r>
          </a:p>
        </p:txBody>
      </p:sp>
      <p:sp>
        <p:nvSpPr>
          <p:cNvPr id="3" name="Content Placeholder 2"/>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defRPr/>
            </a:pPr>
            <a:br>
              <a:rPr kumimoji="0" lang="en-IN" altLang="en-US" sz="2800" b="0" i="0" u="none" strike="noStrike" kern="0" cap="none" spc="0" normalizeH="0" baseline="0" noProof="0" dirty="0">
                <a:ln>
                  <a:noFill/>
                </a:ln>
                <a:solidFill>
                  <a:srgbClr val="000000"/>
                </a:solidFill>
                <a:effectLst/>
                <a:uLnTx/>
                <a:uFillTx/>
                <a:latin typeface="Verdana" panose="020B0604030504040204"/>
                <a:ea typeface="+mn-ea"/>
                <a:cs typeface="+mn-cs"/>
              </a:rPr>
            </a:br>
            <a:endParaRPr kumimoji="0" lang="en-IN" altLang="en-US" sz="2800" b="0" i="0" u="none" strike="noStrike" kern="0" cap="none" spc="0" normalizeH="0" baseline="0" noProof="0" dirty="0">
              <a:ln>
                <a:noFill/>
              </a:ln>
              <a:solidFill>
                <a:srgbClr val="000000"/>
              </a:solidFill>
              <a:effectLst/>
              <a:uLnTx/>
              <a:uFillTx/>
              <a:latin typeface="Verdana" panose="020B0604030504040204"/>
              <a:ea typeface="+mn-ea"/>
              <a:cs typeface="+mn-cs"/>
            </a:endParaRPr>
          </a:p>
          <a:p>
            <a:pPr marL="0" indent="0">
              <a:buNone/>
            </a:pPr>
            <a:endParaRPr lang="en-IN" dirty="0"/>
          </a:p>
        </p:txBody>
      </p:sp>
      <p:sp>
        <p:nvSpPr>
          <p:cNvPr id="4" name="Date Placeholder 3"/>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7</a:t>
            </a:fld>
            <a:endParaRPr lang="en-IN"/>
          </a:p>
        </p:txBody>
      </p:sp>
      <p:graphicFrame>
        <p:nvGraphicFramePr>
          <p:cNvPr id="9" name="Table 8">
            <a:extLst>
              <a:ext uri="{FF2B5EF4-FFF2-40B4-BE49-F238E27FC236}">
                <a16:creationId xmlns:a16="http://schemas.microsoft.com/office/drawing/2014/main" id="{493CA586-BEEE-D5EA-55D7-BE91C8650383}"/>
              </a:ext>
            </a:extLst>
          </p:cNvPr>
          <p:cNvGraphicFramePr>
            <a:graphicFrameLocks noGrp="1"/>
          </p:cNvGraphicFramePr>
          <p:nvPr>
            <p:extLst>
              <p:ext uri="{D42A27DB-BD31-4B8C-83A1-F6EECF244321}">
                <p14:modId xmlns:p14="http://schemas.microsoft.com/office/powerpoint/2010/main" val="1140569525"/>
              </p:ext>
            </p:extLst>
          </p:nvPr>
        </p:nvGraphicFramePr>
        <p:xfrm>
          <a:off x="1035958" y="1870830"/>
          <a:ext cx="10343241" cy="4084320"/>
        </p:xfrm>
        <a:graphic>
          <a:graphicData uri="http://schemas.openxmlformats.org/drawingml/2006/table">
            <a:tbl>
              <a:tblPr firstRow="1" bandRow="1">
                <a:tableStyleId>{5C22544A-7EE6-4342-B048-85BDC9FD1C3A}</a:tableStyleId>
              </a:tblPr>
              <a:tblGrid>
                <a:gridCol w="3447747">
                  <a:extLst>
                    <a:ext uri="{9D8B030D-6E8A-4147-A177-3AD203B41FA5}">
                      <a16:colId xmlns:a16="http://schemas.microsoft.com/office/drawing/2014/main" val="2504837355"/>
                    </a:ext>
                  </a:extLst>
                </a:gridCol>
                <a:gridCol w="3447747">
                  <a:extLst>
                    <a:ext uri="{9D8B030D-6E8A-4147-A177-3AD203B41FA5}">
                      <a16:colId xmlns:a16="http://schemas.microsoft.com/office/drawing/2014/main" val="532558269"/>
                    </a:ext>
                  </a:extLst>
                </a:gridCol>
                <a:gridCol w="3447747">
                  <a:extLst>
                    <a:ext uri="{9D8B030D-6E8A-4147-A177-3AD203B41FA5}">
                      <a16:colId xmlns:a16="http://schemas.microsoft.com/office/drawing/2014/main" val="2788368956"/>
                    </a:ext>
                  </a:extLst>
                </a:gridCol>
              </a:tblGrid>
              <a:tr h="370840">
                <a:tc>
                  <a:txBody>
                    <a:bodyPr/>
                    <a:lstStyle/>
                    <a:p>
                      <a:pPr algn="ctr" rtl="0">
                        <a:buNone/>
                      </a:pPr>
                      <a:r>
                        <a:rPr lang="en-US" b="1" dirty="0">
                          <a:solidFill>
                            <a:srgbClr val="1F1F1F"/>
                          </a:solidFill>
                          <a:effectLst/>
                          <a:latin typeface="Google Sans Text"/>
                        </a:rPr>
                        <a:t>Component</a:t>
                      </a:r>
                      <a:endParaRPr lang="en-US" dirty="0">
                        <a:solidFill>
                          <a:srgbClr val="1F1F1F"/>
                        </a:solidFill>
                        <a:effectLst/>
                        <a:latin typeface="Google Sans Text"/>
                      </a:endParaRPr>
                    </a:p>
                  </a:txBody>
                  <a:tcPr marL="114300" marR="114300" marT="76200" marB="76200" anchor="ctr"/>
                </a:tc>
                <a:tc>
                  <a:txBody>
                    <a:bodyPr/>
                    <a:lstStyle/>
                    <a:p>
                      <a:pPr algn="ctr" rtl="0">
                        <a:buNone/>
                      </a:pPr>
                      <a:r>
                        <a:rPr lang="en-US" b="1" dirty="0">
                          <a:solidFill>
                            <a:srgbClr val="1F1F1F"/>
                          </a:solidFill>
                          <a:effectLst/>
                          <a:latin typeface="Google Sans Text"/>
                        </a:rPr>
                        <a:t>Function</a:t>
                      </a:r>
                      <a:endParaRPr lang="en-US" dirty="0">
                        <a:solidFill>
                          <a:srgbClr val="1F1F1F"/>
                        </a:solidFill>
                        <a:effectLst/>
                        <a:latin typeface="Google Sans Text"/>
                      </a:endParaRPr>
                    </a:p>
                  </a:txBody>
                  <a:tcPr marL="114300" marR="114300" marT="76200" marB="76200" anchor="ctr"/>
                </a:tc>
                <a:tc>
                  <a:txBody>
                    <a:bodyPr/>
                    <a:lstStyle/>
                    <a:p>
                      <a:pPr algn="ctr" rtl="0">
                        <a:buNone/>
                      </a:pPr>
                      <a:r>
                        <a:rPr lang="en-US" b="1" dirty="0">
                          <a:solidFill>
                            <a:srgbClr val="1F1F1F"/>
                          </a:solidFill>
                          <a:effectLst/>
                          <a:latin typeface="Google Sans Text"/>
                        </a:rPr>
                        <a:t>Technology</a:t>
                      </a:r>
                      <a:endParaRPr lang="en-US"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4236036731"/>
                  </a:ext>
                </a:extLst>
              </a:tr>
              <a:tr h="370840">
                <a:tc>
                  <a:txBody>
                    <a:bodyPr/>
                    <a:lstStyle/>
                    <a:p>
                      <a:pPr rtl="0">
                        <a:buNone/>
                      </a:pPr>
                      <a:r>
                        <a:rPr lang="en-US" b="1" dirty="0">
                          <a:solidFill>
                            <a:srgbClr val="1F1F1F"/>
                          </a:solidFill>
                          <a:effectLst/>
                          <a:latin typeface="Google Sans Text"/>
                        </a:rPr>
                        <a:t>Input</a:t>
                      </a:r>
                      <a:endParaRPr lang="en-US" dirty="0">
                        <a:solidFill>
                          <a:srgbClr val="1F1F1F"/>
                        </a:solidFill>
                        <a:effectLst/>
                        <a:latin typeface="Google Sans Text"/>
                      </a:endParaRPr>
                    </a:p>
                  </a:txBody>
                  <a:tcPr marL="114300" marR="114300" marT="76200" marB="76200" anchor="ctr"/>
                </a:tc>
                <a:tc>
                  <a:txBody>
                    <a:bodyPr/>
                    <a:lstStyle/>
                    <a:p>
                      <a:pPr rtl="0">
                        <a:buNone/>
                      </a:pPr>
                      <a:r>
                        <a:rPr lang="en-US" dirty="0">
                          <a:solidFill>
                            <a:srgbClr val="1F1F1F"/>
                          </a:solidFill>
                          <a:effectLst/>
                          <a:latin typeface="Google Sans Text"/>
                        </a:rPr>
                        <a:t>Captures real-time image feed.</a:t>
                      </a:r>
                    </a:p>
                  </a:txBody>
                  <a:tcPr marL="114300" marR="114300" marT="76200" marB="76200" anchor="ctr"/>
                </a:tc>
                <a:tc>
                  <a:txBody>
                    <a:bodyPr/>
                    <a:lstStyle/>
                    <a:p>
                      <a:pPr rtl="0">
                        <a:buNone/>
                      </a:pPr>
                      <a:r>
                        <a:rPr lang="en-US" b="1" dirty="0">
                          <a:solidFill>
                            <a:srgbClr val="1F1F1F"/>
                          </a:solidFill>
                          <a:effectLst/>
                          <a:latin typeface="Google Sans Text"/>
                        </a:rPr>
                        <a:t>Upload Input (Captured Image)</a:t>
                      </a:r>
                      <a:endParaRPr lang="en-US"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057173931"/>
                  </a:ext>
                </a:extLst>
              </a:tr>
              <a:tr h="370840">
                <a:tc>
                  <a:txBody>
                    <a:bodyPr/>
                    <a:lstStyle/>
                    <a:p>
                      <a:pPr rtl="0">
                        <a:buNone/>
                      </a:pPr>
                      <a:r>
                        <a:rPr lang="en-US" b="1">
                          <a:solidFill>
                            <a:srgbClr val="1F1F1F"/>
                          </a:solidFill>
                          <a:effectLst/>
                          <a:latin typeface="Google Sans Text"/>
                        </a:rPr>
                        <a:t>Detection</a:t>
                      </a:r>
                      <a:endParaRPr lang="en-US">
                        <a:solidFill>
                          <a:srgbClr val="1F1F1F"/>
                        </a:solidFill>
                        <a:effectLst/>
                        <a:latin typeface="Google Sans Text"/>
                      </a:endParaRPr>
                    </a:p>
                  </a:txBody>
                  <a:tcPr marL="114300" marR="114300" marT="76200" marB="76200" anchor="ctr"/>
                </a:tc>
                <a:tc>
                  <a:txBody>
                    <a:bodyPr/>
                    <a:lstStyle/>
                    <a:p>
                      <a:pPr rtl="0">
                        <a:buNone/>
                      </a:pPr>
                      <a:r>
                        <a:rPr lang="en-US">
                          <a:solidFill>
                            <a:srgbClr val="1F1F1F"/>
                          </a:solidFill>
                          <a:effectLst/>
                          <a:latin typeface="Google Sans Text"/>
                        </a:rPr>
                        <a:t>Identifies available ingredients.</a:t>
                      </a:r>
                    </a:p>
                  </a:txBody>
                  <a:tcPr marL="114300" marR="114300" marT="76200" marB="76200" anchor="ctr"/>
                </a:tc>
                <a:tc>
                  <a:txBody>
                    <a:bodyPr/>
                    <a:lstStyle/>
                    <a:p>
                      <a:pPr rtl="0">
                        <a:buNone/>
                      </a:pPr>
                      <a:r>
                        <a:rPr lang="en-US" b="1">
                          <a:solidFill>
                            <a:srgbClr val="1F1F1F"/>
                          </a:solidFill>
                          <a:effectLst/>
                          <a:latin typeface="Google Sans Text"/>
                        </a:rPr>
                        <a:t>YOLO Model (Object Detection)</a:t>
                      </a:r>
                      <a:endParaRPr lang="en-US">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643444898"/>
                  </a:ext>
                </a:extLst>
              </a:tr>
              <a:tr h="370840">
                <a:tc>
                  <a:txBody>
                    <a:bodyPr/>
                    <a:lstStyle/>
                    <a:p>
                      <a:pPr rtl="0">
                        <a:buNone/>
                      </a:pPr>
                      <a:r>
                        <a:rPr lang="en-US" b="1">
                          <a:solidFill>
                            <a:srgbClr val="1F1F1F"/>
                          </a:solidFill>
                          <a:effectLst/>
                          <a:latin typeface="Google Sans Text"/>
                        </a:rPr>
                        <a:t>Data Source</a:t>
                      </a:r>
                      <a:endParaRPr lang="en-US">
                        <a:solidFill>
                          <a:srgbClr val="1F1F1F"/>
                        </a:solidFill>
                        <a:effectLst/>
                        <a:latin typeface="Google Sans Text"/>
                      </a:endParaRPr>
                    </a:p>
                  </a:txBody>
                  <a:tcPr marL="114300" marR="114300" marT="76200" marB="76200" anchor="ctr"/>
                </a:tc>
                <a:tc>
                  <a:txBody>
                    <a:bodyPr/>
                    <a:lstStyle/>
                    <a:p>
                      <a:pPr rtl="0">
                        <a:buNone/>
                      </a:pPr>
                      <a:r>
                        <a:rPr lang="en-US">
                          <a:solidFill>
                            <a:srgbClr val="1F1F1F"/>
                          </a:solidFill>
                          <a:effectLst/>
                          <a:latin typeface="Google Sans Text"/>
                        </a:rPr>
                        <a:t>Stores the complete recipe catalog.</a:t>
                      </a:r>
                    </a:p>
                  </a:txBody>
                  <a:tcPr marL="114300" marR="114300" marT="76200" marB="76200" anchor="ctr"/>
                </a:tc>
                <a:tc>
                  <a:txBody>
                    <a:bodyPr/>
                    <a:lstStyle/>
                    <a:p>
                      <a:pPr rtl="0">
                        <a:buNone/>
                      </a:pPr>
                      <a:r>
                        <a:rPr lang="en-US" b="1">
                          <a:solidFill>
                            <a:srgbClr val="1F1F1F"/>
                          </a:solidFill>
                          <a:effectLst/>
                          <a:latin typeface="Google Sans Text"/>
                        </a:rPr>
                        <a:t>CSV File (Recipe Data)</a:t>
                      </a:r>
                      <a:endParaRPr lang="en-US">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2876423662"/>
                  </a:ext>
                </a:extLst>
              </a:tr>
              <a:tr h="370840">
                <a:tc>
                  <a:txBody>
                    <a:bodyPr/>
                    <a:lstStyle/>
                    <a:p>
                      <a:pPr rtl="0">
                        <a:buNone/>
                      </a:pPr>
                      <a:r>
                        <a:rPr lang="en-US" b="1">
                          <a:solidFill>
                            <a:srgbClr val="1F1F1F"/>
                          </a:solidFill>
                          <a:effectLst/>
                          <a:latin typeface="Google Sans Text"/>
                        </a:rPr>
                        <a:t>Logic</a:t>
                      </a:r>
                      <a:endParaRPr lang="en-US">
                        <a:solidFill>
                          <a:srgbClr val="1F1F1F"/>
                        </a:solidFill>
                        <a:effectLst/>
                        <a:latin typeface="Google Sans Text"/>
                      </a:endParaRPr>
                    </a:p>
                  </a:txBody>
                  <a:tcPr marL="114300" marR="114300" marT="76200" marB="76200" anchor="ctr"/>
                </a:tc>
                <a:tc>
                  <a:txBody>
                    <a:bodyPr/>
                    <a:lstStyle/>
                    <a:p>
                      <a:pPr rtl="0">
                        <a:buNone/>
                      </a:pPr>
                      <a:r>
                        <a:rPr lang="en-US">
                          <a:solidFill>
                            <a:srgbClr val="1F1F1F"/>
                          </a:solidFill>
                          <a:effectLst/>
                          <a:latin typeface="Google Sans Text"/>
                        </a:rPr>
                        <a:t>Matches detected items to recipes.</a:t>
                      </a:r>
                    </a:p>
                  </a:txBody>
                  <a:tcPr marL="114300" marR="114300" marT="76200" marB="76200" anchor="ctr"/>
                </a:tc>
                <a:tc>
                  <a:txBody>
                    <a:bodyPr/>
                    <a:lstStyle/>
                    <a:p>
                      <a:pPr rtl="0">
                        <a:buNone/>
                      </a:pPr>
                      <a:r>
                        <a:rPr lang="en-US" b="1">
                          <a:solidFill>
                            <a:srgbClr val="1F1F1F"/>
                          </a:solidFill>
                          <a:effectLst/>
                          <a:latin typeface="Google Sans Text"/>
                        </a:rPr>
                        <a:t>Recipe Generation Logic</a:t>
                      </a:r>
                      <a:endParaRPr lang="en-US">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166638187"/>
                  </a:ext>
                </a:extLst>
              </a:tr>
              <a:tr h="370840">
                <a:tc>
                  <a:txBody>
                    <a:bodyPr/>
                    <a:lstStyle/>
                    <a:p>
                      <a:pPr rtl="0">
                        <a:buNone/>
                      </a:pPr>
                      <a:r>
                        <a:rPr lang="en-US" b="1">
                          <a:solidFill>
                            <a:srgbClr val="1F1F1F"/>
                          </a:solidFill>
                          <a:effectLst/>
                          <a:latin typeface="Google Sans Text"/>
                        </a:rPr>
                        <a:t>Generation</a:t>
                      </a:r>
                      <a:endParaRPr lang="en-US">
                        <a:solidFill>
                          <a:srgbClr val="1F1F1F"/>
                        </a:solidFill>
                        <a:effectLst/>
                        <a:latin typeface="Google Sans Text"/>
                      </a:endParaRPr>
                    </a:p>
                  </a:txBody>
                  <a:tcPr marL="114300" marR="114300" marT="76200" marB="76200" anchor="ctr"/>
                </a:tc>
                <a:tc>
                  <a:txBody>
                    <a:bodyPr/>
                    <a:lstStyle/>
                    <a:p>
                      <a:pPr rtl="0">
                        <a:buNone/>
                      </a:pPr>
                      <a:r>
                        <a:rPr lang="en-US">
                          <a:solidFill>
                            <a:srgbClr val="1F1F1F"/>
                          </a:solidFill>
                          <a:effectLst/>
                          <a:latin typeface="Google Sans Text"/>
                        </a:rPr>
                        <a:t>Formulates step-by-step instructions.</a:t>
                      </a:r>
                    </a:p>
                  </a:txBody>
                  <a:tcPr marL="114300" marR="114300" marT="76200" marB="76200" anchor="ctr"/>
                </a:tc>
                <a:tc>
                  <a:txBody>
                    <a:bodyPr/>
                    <a:lstStyle/>
                    <a:p>
                      <a:pPr rtl="0">
                        <a:buNone/>
                      </a:pPr>
                      <a:r>
                        <a:rPr lang="en-US" b="1">
                          <a:solidFill>
                            <a:srgbClr val="1F1F1F"/>
                          </a:solidFill>
                          <a:effectLst/>
                          <a:latin typeface="Google Sans Text"/>
                        </a:rPr>
                        <a:t>BERT Model (NLP Generation)</a:t>
                      </a:r>
                      <a:endParaRPr lang="en-US">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766228954"/>
                  </a:ext>
                </a:extLst>
              </a:tr>
              <a:tr h="370840">
                <a:tc>
                  <a:txBody>
                    <a:bodyPr/>
                    <a:lstStyle/>
                    <a:p>
                      <a:pPr rtl="0">
                        <a:buNone/>
                      </a:pPr>
                      <a:r>
                        <a:rPr lang="en-US" b="1">
                          <a:solidFill>
                            <a:srgbClr val="1F1F1F"/>
                          </a:solidFill>
                          <a:effectLst/>
                          <a:latin typeface="Google Sans Text"/>
                        </a:rPr>
                        <a:t>Output</a:t>
                      </a:r>
                      <a:endParaRPr lang="en-US">
                        <a:solidFill>
                          <a:srgbClr val="1F1F1F"/>
                        </a:solidFill>
                        <a:effectLst/>
                        <a:latin typeface="Google Sans Text"/>
                      </a:endParaRPr>
                    </a:p>
                  </a:txBody>
                  <a:tcPr marL="114300" marR="114300" marT="76200" marB="76200" anchor="ctr"/>
                </a:tc>
                <a:tc>
                  <a:txBody>
                    <a:bodyPr/>
                    <a:lstStyle/>
                    <a:p>
                      <a:pPr rtl="0">
                        <a:buNone/>
                      </a:pPr>
                      <a:r>
                        <a:rPr lang="en-US">
                          <a:solidFill>
                            <a:srgbClr val="1F1F1F"/>
                          </a:solidFill>
                          <a:effectLst/>
                          <a:latin typeface="Google Sans Text"/>
                        </a:rPr>
                        <a:t>Presents recipe details and visual guide.</a:t>
                      </a:r>
                    </a:p>
                  </a:txBody>
                  <a:tcPr marL="114300" marR="114300" marT="76200" marB="76200" anchor="ctr"/>
                </a:tc>
                <a:tc>
                  <a:txBody>
                    <a:bodyPr/>
                    <a:lstStyle/>
                    <a:p>
                      <a:pPr rtl="0">
                        <a:buNone/>
                      </a:pPr>
                      <a:r>
                        <a:rPr lang="en-US" b="1" dirty="0">
                          <a:solidFill>
                            <a:srgbClr val="1F1F1F"/>
                          </a:solidFill>
                          <a:effectLst/>
                          <a:latin typeface="Google Sans Text"/>
                        </a:rPr>
                        <a:t>Generated Recipe &amp; Related Recipe Video</a:t>
                      </a:r>
                      <a:endParaRPr lang="en-US" dirty="0">
                        <a:solidFill>
                          <a:srgbClr val="1F1F1F"/>
                        </a:solidFill>
                        <a:effectLst/>
                        <a:latin typeface="Google Sans Text"/>
                      </a:endParaRPr>
                    </a:p>
                  </a:txBody>
                  <a:tcPr marL="114300" marR="114300" marT="76200" marB="76200" anchor="ctr"/>
                </a:tc>
                <a:extLst>
                  <a:ext uri="{0D108BD9-81ED-4DB2-BD59-A6C34878D82A}">
                    <a16:rowId xmlns:a16="http://schemas.microsoft.com/office/drawing/2014/main" val="324502131"/>
                  </a:ext>
                </a:extLst>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IN" sz="3200" b="1" dirty="0">
                <a:solidFill>
                  <a:srgbClr val="FF0000"/>
                </a:solidFill>
              </a:rPr>
              <a:t>Module</a:t>
            </a:r>
          </a:p>
        </p:txBody>
      </p:sp>
      <p:sp>
        <p:nvSpPr>
          <p:cNvPr id="3" name="Content Placeholder 2"/>
          <p:cNvSpPr>
            <a:spLocks noGrp="1"/>
          </p:cNvSpPr>
          <p:nvPr>
            <p:ph idx="1"/>
          </p:nvPr>
        </p:nvSpPr>
        <p:spPr/>
        <p:txBody>
          <a:bodyPr/>
          <a:lstStyle/>
          <a:p>
            <a:pPr marL="0" indent="0">
              <a:buNone/>
            </a:pPr>
            <a:r>
              <a:rPr lang="en-US" sz="2000" b="1" dirty="0"/>
              <a:t>User Interface &amp; Input Module</a:t>
            </a:r>
          </a:p>
          <a:p>
            <a:pPr marL="0" indent="0">
              <a:buNone/>
            </a:pPr>
            <a:endParaRPr lang="en-US" sz="2000" b="1" dirty="0"/>
          </a:p>
          <a:p>
            <a:r>
              <a:rPr lang="en-US" sz="2000" dirty="0"/>
              <a:t>Provides an interactive interface for the user.</a:t>
            </a:r>
          </a:p>
          <a:p>
            <a:r>
              <a:rPr lang="en-US" sz="2000" dirty="0"/>
              <a:t>Allows users to </a:t>
            </a:r>
            <a:r>
              <a:rPr lang="en-US" sz="2000" b="1" dirty="0"/>
              <a:t>upload images</a:t>
            </a:r>
            <a:r>
              <a:rPr lang="en-US" sz="2000" dirty="0"/>
              <a:t>.</a:t>
            </a:r>
          </a:p>
          <a:p>
            <a:r>
              <a:rPr lang="en-US" sz="2000" dirty="0"/>
              <a:t>Performs </a:t>
            </a:r>
            <a:r>
              <a:rPr lang="en-US" sz="2000" b="1" dirty="0"/>
              <a:t>initial preprocessing</a:t>
            </a:r>
            <a:r>
              <a:rPr lang="en-US" sz="2000" dirty="0"/>
              <a:t> of images:</a:t>
            </a:r>
          </a:p>
          <a:p>
            <a:pPr lvl="1"/>
            <a:r>
              <a:rPr lang="en-US" sz="2000" dirty="0"/>
              <a:t>Resizing to standard dimensions.</a:t>
            </a:r>
          </a:p>
          <a:p>
            <a:pPr lvl="1"/>
            <a:r>
              <a:rPr lang="en-US" sz="2000" dirty="0"/>
              <a:t>Color normalization or enhancement.</a:t>
            </a:r>
          </a:p>
          <a:p>
            <a:pPr lvl="1"/>
            <a:r>
              <a:rPr lang="en-US" sz="2000" dirty="0"/>
              <a:t>Optional noise reduction.</a:t>
            </a:r>
          </a:p>
          <a:p>
            <a:r>
              <a:rPr lang="en-US" sz="2000" dirty="0"/>
              <a:t>Ensures the image is ready for the detection module.</a:t>
            </a:r>
          </a:p>
          <a:p>
            <a:r>
              <a:rPr lang="en-US" sz="2000" b="1" dirty="0"/>
              <a:t>Input:</a:t>
            </a:r>
            <a:r>
              <a:rPr lang="en-US" sz="2000" dirty="0"/>
              <a:t> User image (camera capture or upload).</a:t>
            </a:r>
          </a:p>
          <a:p>
            <a:r>
              <a:rPr lang="en-US" sz="2000" b="1" dirty="0"/>
              <a:t>Output:</a:t>
            </a:r>
            <a:r>
              <a:rPr lang="en-US" sz="2000" dirty="0"/>
              <a:t> Preprocessed image ready for ingredient detection.</a:t>
            </a:r>
          </a:p>
          <a:p>
            <a:pPr marL="0" marR="0" lvl="0" indent="0" algn="l" defTabSz="914400" rtl="0" eaLnBrk="0" fontAlgn="base" latinLnBrk="0" hangingPunct="0">
              <a:lnSpc>
                <a:spcPct val="100000"/>
              </a:lnSpc>
              <a:spcBef>
                <a:spcPct val="20000"/>
              </a:spcBef>
              <a:spcAft>
                <a:spcPct val="0"/>
              </a:spcAft>
              <a:buClr>
                <a:srgbClr val="CC0000"/>
              </a:buClr>
              <a:buSzTx/>
              <a:buNone/>
              <a:defRPr/>
            </a:pPr>
            <a:br>
              <a:rPr kumimoji="0" lang="en-IN" altLang="en-US" sz="2800" b="0" i="0" u="none" strike="noStrike" kern="0" cap="none" spc="0" normalizeH="0" baseline="0" noProof="0" dirty="0">
                <a:ln>
                  <a:noFill/>
                </a:ln>
                <a:solidFill>
                  <a:srgbClr val="000000"/>
                </a:solidFill>
                <a:effectLst/>
                <a:uLnTx/>
                <a:uFillTx/>
                <a:latin typeface="Verdana" panose="020B0604030504040204"/>
                <a:ea typeface="+mn-ea"/>
                <a:cs typeface="+mn-cs"/>
              </a:rPr>
            </a:br>
            <a:endParaRPr kumimoji="0" lang="en-IN" altLang="en-US" sz="2800" b="0" i="0" u="none" strike="noStrike" kern="0" cap="none" spc="0" normalizeH="0" baseline="0" noProof="0" dirty="0">
              <a:ln>
                <a:noFill/>
              </a:ln>
              <a:solidFill>
                <a:srgbClr val="000000"/>
              </a:solidFill>
              <a:effectLst/>
              <a:uLnTx/>
              <a:uFillTx/>
              <a:latin typeface="Verdana" panose="020B0604030504040204"/>
              <a:ea typeface="+mn-ea"/>
              <a:cs typeface="+mn-cs"/>
            </a:endParaRPr>
          </a:p>
          <a:p>
            <a:pPr marL="0" indent="0">
              <a:buNone/>
            </a:pPr>
            <a:endParaRPr lang="en-IN" dirty="0"/>
          </a:p>
        </p:txBody>
      </p:sp>
      <p:sp>
        <p:nvSpPr>
          <p:cNvPr id="4" name="Date Placeholder 3"/>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8</a:t>
            </a:fld>
            <a:endParaRPr lang="en-IN"/>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8B35741F-4978-C299-8B23-D687384EAE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A2FA33-845D-ED66-4337-3B70AF1F31D8}"/>
              </a:ext>
            </a:extLst>
          </p:cNvPr>
          <p:cNvSpPr>
            <a:spLocks noGrp="1"/>
          </p:cNvSpPr>
          <p:nvPr>
            <p:ph type="title"/>
          </p:nvPr>
        </p:nvSpPr>
        <p:spPr/>
        <p:txBody>
          <a:bodyPr/>
          <a:lstStyle/>
          <a:p>
            <a:r>
              <a:rPr lang="en-US" altLang="en-IN" sz="3200" b="1" dirty="0">
                <a:solidFill>
                  <a:srgbClr val="FF0000"/>
                </a:solidFill>
              </a:rPr>
              <a:t>Module</a:t>
            </a:r>
          </a:p>
        </p:txBody>
      </p:sp>
      <p:sp>
        <p:nvSpPr>
          <p:cNvPr id="3" name="Content Placeholder 2">
            <a:extLst>
              <a:ext uri="{FF2B5EF4-FFF2-40B4-BE49-F238E27FC236}">
                <a16:creationId xmlns:a16="http://schemas.microsoft.com/office/drawing/2014/main" id="{5B4E4E0C-045E-FE7A-38A6-2C3B19711BD5}"/>
              </a:ext>
            </a:extLst>
          </p:cNvPr>
          <p:cNvSpPr>
            <a:spLocks noGrp="1"/>
          </p:cNvSpPr>
          <p:nvPr>
            <p:ph idx="1"/>
          </p:nvPr>
        </p:nvSpPr>
        <p:spPr/>
        <p:txBody>
          <a:bodyPr/>
          <a:lstStyle/>
          <a:p>
            <a:pPr marL="0" indent="0">
              <a:buNone/>
            </a:pPr>
            <a:r>
              <a:rPr lang="en-US" sz="2000" b="1" dirty="0"/>
              <a:t>Ingredient Detection Module (YOLOv12)</a:t>
            </a:r>
          </a:p>
          <a:p>
            <a:pPr marL="0" indent="0">
              <a:buNone/>
            </a:pPr>
            <a:endParaRPr lang="en-US" sz="2000" b="1" dirty="0"/>
          </a:p>
          <a:p>
            <a:r>
              <a:rPr lang="en-US" sz="2000" dirty="0"/>
              <a:t>Detects and identifies </a:t>
            </a:r>
            <a:r>
              <a:rPr lang="en-US" sz="2000" b="1" dirty="0"/>
              <a:t>multiple ingredients</a:t>
            </a:r>
            <a:r>
              <a:rPr lang="en-US" sz="2000" dirty="0"/>
              <a:t> in real time.</a:t>
            </a:r>
          </a:p>
          <a:p>
            <a:r>
              <a:rPr lang="en-US" sz="2000" dirty="0"/>
              <a:t>Uses a </a:t>
            </a:r>
            <a:r>
              <a:rPr lang="en-US" sz="2000" b="1" dirty="0"/>
              <a:t>YOLOv12 object detection model</a:t>
            </a:r>
            <a:r>
              <a:rPr lang="en-US" sz="2000" dirty="0"/>
              <a:t> for fast and accurate recognition.</a:t>
            </a:r>
          </a:p>
          <a:p>
            <a:r>
              <a:rPr lang="en-US" sz="2000" dirty="0"/>
              <a:t>Processes the preprocessed image from the UI module.</a:t>
            </a:r>
          </a:p>
          <a:p>
            <a:r>
              <a:rPr lang="en-US" sz="2000" dirty="0"/>
              <a:t>Generates a </a:t>
            </a:r>
            <a:r>
              <a:rPr lang="en-US" sz="2000" b="1" dirty="0"/>
              <a:t>list of detected ingredients</a:t>
            </a:r>
            <a:r>
              <a:rPr lang="en-US" sz="2000" dirty="0"/>
              <a:t> with:</a:t>
            </a:r>
          </a:p>
          <a:p>
            <a:pPr lvl="1"/>
            <a:r>
              <a:rPr lang="en-US" sz="2000" dirty="0"/>
              <a:t>Labels (e.g., tomato, onion, potato).</a:t>
            </a:r>
          </a:p>
          <a:p>
            <a:pPr lvl="1"/>
            <a:r>
              <a:rPr lang="en-US" sz="2000" dirty="0"/>
              <a:t>Confidence scores.</a:t>
            </a:r>
          </a:p>
          <a:p>
            <a:pPr lvl="1"/>
            <a:r>
              <a:rPr lang="en-US" sz="2000" dirty="0"/>
              <a:t>Optional bounding box coordinates.</a:t>
            </a:r>
          </a:p>
          <a:p>
            <a:r>
              <a:rPr lang="en-US" sz="2000" b="1" dirty="0"/>
              <a:t>Input:</a:t>
            </a:r>
            <a:r>
              <a:rPr lang="en-US" sz="2000" dirty="0"/>
              <a:t> Preprocessed image from UI/Input module.</a:t>
            </a:r>
          </a:p>
          <a:p>
            <a:r>
              <a:rPr lang="en-US" sz="2000" b="1" dirty="0"/>
              <a:t>Output:</a:t>
            </a:r>
            <a:r>
              <a:rPr lang="en-US" sz="2000" dirty="0"/>
              <a:t> List of detected ingredients with labels.</a:t>
            </a:r>
          </a:p>
        </p:txBody>
      </p:sp>
      <p:sp>
        <p:nvSpPr>
          <p:cNvPr id="4" name="Date Placeholder 3">
            <a:extLst>
              <a:ext uri="{FF2B5EF4-FFF2-40B4-BE49-F238E27FC236}">
                <a16:creationId xmlns:a16="http://schemas.microsoft.com/office/drawing/2014/main" id="{6BEAE6DA-905B-B239-5CFA-EAC02460244A}"/>
              </a:ext>
            </a:extLst>
          </p:cNvPr>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a:extLst>
              <a:ext uri="{FF2B5EF4-FFF2-40B4-BE49-F238E27FC236}">
                <a16:creationId xmlns:a16="http://schemas.microsoft.com/office/drawing/2014/main" id="{0C79CBB5-A631-A47D-67BC-2F74883EBDFF}"/>
              </a:ext>
            </a:extLst>
          </p:cNvPr>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a:extLst>
              <a:ext uri="{FF2B5EF4-FFF2-40B4-BE49-F238E27FC236}">
                <a16:creationId xmlns:a16="http://schemas.microsoft.com/office/drawing/2014/main" id="{95C0CBE2-6704-B57D-4C5E-FEBBAE12AE5A}"/>
              </a:ext>
            </a:extLst>
          </p:cNvPr>
          <p:cNvSpPr>
            <a:spLocks noGrp="1"/>
          </p:cNvSpPr>
          <p:nvPr>
            <p:ph type="sldNum" sz="quarter" idx="12"/>
          </p:nvPr>
        </p:nvSpPr>
        <p:spPr/>
        <p:txBody>
          <a:bodyPr/>
          <a:lstStyle/>
          <a:p>
            <a:fld id="{5AB9ECBD-B4DD-40D5-8D24-9ECCDBB1583E}" type="slidenum">
              <a:rPr lang="en-IN" smtClean="0"/>
              <a:t>9</a:t>
            </a:fld>
            <a:endParaRPr lang="en-IN"/>
          </a:p>
        </p:txBody>
      </p:sp>
    </p:spTree>
    <p:extLst>
      <p:ext uri="{BB962C8B-B14F-4D97-AF65-F5344CB8AC3E}">
        <p14:creationId xmlns:p14="http://schemas.microsoft.com/office/powerpoint/2010/main" val="4257376184"/>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710FE38C-DE5F-63EE-AC08-09A22F4CD3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19284B-7C82-7DC1-FF24-2C73A94E2859}"/>
              </a:ext>
            </a:extLst>
          </p:cNvPr>
          <p:cNvSpPr>
            <a:spLocks noGrp="1"/>
          </p:cNvSpPr>
          <p:nvPr>
            <p:ph type="title"/>
          </p:nvPr>
        </p:nvSpPr>
        <p:spPr/>
        <p:txBody>
          <a:bodyPr/>
          <a:lstStyle/>
          <a:p>
            <a:r>
              <a:rPr lang="en-US" altLang="en-IN" sz="3200" b="1" dirty="0">
                <a:solidFill>
                  <a:srgbClr val="FF0000"/>
                </a:solidFill>
              </a:rPr>
              <a:t>Module</a:t>
            </a:r>
          </a:p>
        </p:txBody>
      </p:sp>
      <p:sp>
        <p:nvSpPr>
          <p:cNvPr id="3" name="Content Placeholder 2">
            <a:extLst>
              <a:ext uri="{FF2B5EF4-FFF2-40B4-BE49-F238E27FC236}">
                <a16:creationId xmlns:a16="http://schemas.microsoft.com/office/drawing/2014/main" id="{477397EA-852D-2DED-283F-09B119D0FD1E}"/>
              </a:ext>
            </a:extLst>
          </p:cNvPr>
          <p:cNvSpPr>
            <a:spLocks noGrp="1"/>
          </p:cNvSpPr>
          <p:nvPr>
            <p:ph idx="1"/>
          </p:nvPr>
        </p:nvSpPr>
        <p:spPr/>
        <p:txBody>
          <a:bodyPr/>
          <a:lstStyle/>
          <a:p>
            <a:pPr marL="0" indent="0">
              <a:buNone/>
            </a:pPr>
            <a:r>
              <a:rPr lang="en-US" sz="2000" b="1" dirty="0"/>
              <a:t>Recipe Retrieval &amp; Generation Module (CSV + BERT)</a:t>
            </a:r>
          </a:p>
          <a:p>
            <a:pPr marL="0" indent="0">
              <a:buNone/>
            </a:pPr>
            <a:endParaRPr lang="en-US" sz="2000" b="1" dirty="0"/>
          </a:p>
          <a:p>
            <a:r>
              <a:rPr lang="en-US" sz="2000" dirty="0"/>
              <a:t>Retrieves recipes from a </a:t>
            </a:r>
            <a:r>
              <a:rPr lang="en-US" sz="2000" b="1" dirty="0"/>
              <a:t>CSV dataset</a:t>
            </a:r>
            <a:r>
              <a:rPr lang="en-US" sz="2000" dirty="0"/>
              <a:t> based on the detected ingredients.</a:t>
            </a:r>
          </a:p>
          <a:p>
            <a:r>
              <a:rPr lang="en-US" sz="2000" dirty="0"/>
              <a:t>Filters and ranks recipes for the best matches.</a:t>
            </a:r>
          </a:p>
          <a:p>
            <a:r>
              <a:rPr lang="en-US" sz="2000" dirty="0"/>
              <a:t>Uses </a:t>
            </a:r>
            <a:r>
              <a:rPr lang="en-US" sz="2000" b="1" dirty="0"/>
              <a:t>BERT</a:t>
            </a:r>
            <a:r>
              <a:rPr lang="en-US" sz="2000" dirty="0"/>
              <a:t> to refine recipe instructions:</a:t>
            </a:r>
          </a:p>
          <a:p>
            <a:pPr lvl="1"/>
            <a:r>
              <a:rPr lang="en-US" sz="2000" dirty="0"/>
              <a:t>Makes the instructions coherent and easy to read.</a:t>
            </a:r>
          </a:p>
          <a:p>
            <a:pPr lvl="1"/>
            <a:r>
              <a:rPr lang="en-US" sz="2000" dirty="0"/>
              <a:t>Ensures proper sequencing of steps.</a:t>
            </a:r>
          </a:p>
          <a:p>
            <a:pPr lvl="1"/>
            <a:r>
              <a:rPr lang="en-US" sz="2000" dirty="0"/>
              <a:t>Adjusts ingredient quantities or measurements if necessary.</a:t>
            </a:r>
          </a:p>
          <a:p>
            <a:r>
              <a:rPr lang="en-US" sz="2000" b="1" dirty="0"/>
              <a:t>Input:</a:t>
            </a:r>
            <a:r>
              <a:rPr lang="en-US" sz="2000" dirty="0"/>
              <a:t> Detected ingredient list from YOLO; CSV dataset.</a:t>
            </a:r>
          </a:p>
          <a:p>
            <a:r>
              <a:rPr lang="en-US" sz="2000" b="1" dirty="0"/>
              <a:t>Output:</a:t>
            </a:r>
            <a:r>
              <a:rPr lang="en-US" sz="2000" dirty="0"/>
              <a:t> Refined, human-readable recipe instructions.</a:t>
            </a:r>
          </a:p>
        </p:txBody>
      </p:sp>
      <p:sp>
        <p:nvSpPr>
          <p:cNvPr id="4" name="Date Placeholder 3">
            <a:extLst>
              <a:ext uri="{FF2B5EF4-FFF2-40B4-BE49-F238E27FC236}">
                <a16:creationId xmlns:a16="http://schemas.microsoft.com/office/drawing/2014/main" id="{BC77790C-1333-0797-ED40-21CF7DA5FE9C}"/>
              </a:ext>
            </a:extLst>
          </p:cNvPr>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a:extLst>
              <a:ext uri="{FF2B5EF4-FFF2-40B4-BE49-F238E27FC236}">
                <a16:creationId xmlns:a16="http://schemas.microsoft.com/office/drawing/2014/main" id="{2E5C67B6-3E04-29AD-0E8E-772D46E669EF}"/>
              </a:ext>
            </a:extLst>
          </p:cNvPr>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a:extLst>
              <a:ext uri="{FF2B5EF4-FFF2-40B4-BE49-F238E27FC236}">
                <a16:creationId xmlns:a16="http://schemas.microsoft.com/office/drawing/2014/main" id="{C6774F72-7D8D-90EB-BB30-50BE68A8405A}"/>
              </a:ext>
            </a:extLst>
          </p:cNvPr>
          <p:cNvSpPr>
            <a:spLocks noGrp="1"/>
          </p:cNvSpPr>
          <p:nvPr>
            <p:ph type="sldNum" sz="quarter" idx="12"/>
          </p:nvPr>
        </p:nvSpPr>
        <p:spPr/>
        <p:txBody>
          <a:bodyPr/>
          <a:lstStyle/>
          <a:p>
            <a:fld id="{5AB9ECBD-B4DD-40D5-8D24-9ECCDBB1583E}" type="slidenum">
              <a:rPr lang="en-IN" smtClean="0"/>
              <a:t>10</a:t>
            </a:fld>
            <a:endParaRPr lang="en-IN"/>
          </a:p>
        </p:txBody>
      </p:sp>
    </p:spTree>
    <p:extLst>
      <p:ext uri="{BB962C8B-B14F-4D97-AF65-F5344CB8AC3E}">
        <p14:creationId xmlns:p14="http://schemas.microsoft.com/office/powerpoint/2010/main" val="2542434189"/>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802ABA94-F2E3-DD08-D7E8-A0979B3518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641F4B-35AB-114D-726F-7F53E08791BC}"/>
              </a:ext>
            </a:extLst>
          </p:cNvPr>
          <p:cNvSpPr>
            <a:spLocks noGrp="1"/>
          </p:cNvSpPr>
          <p:nvPr>
            <p:ph type="title"/>
          </p:nvPr>
        </p:nvSpPr>
        <p:spPr/>
        <p:txBody>
          <a:bodyPr/>
          <a:lstStyle/>
          <a:p>
            <a:r>
              <a:rPr lang="en-US" altLang="en-IN" sz="3200" b="1" dirty="0">
                <a:solidFill>
                  <a:srgbClr val="FF0000"/>
                </a:solidFill>
              </a:rPr>
              <a:t>Module</a:t>
            </a:r>
          </a:p>
        </p:txBody>
      </p:sp>
      <p:sp>
        <p:nvSpPr>
          <p:cNvPr id="3" name="Content Placeholder 2">
            <a:extLst>
              <a:ext uri="{FF2B5EF4-FFF2-40B4-BE49-F238E27FC236}">
                <a16:creationId xmlns:a16="http://schemas.microsoft.com/office/drawing/2014/main" id="{F81A90B0-E74D-F1D4-92CB-F0A4B461C363}"/>
              </a:ext>
            </a:extLst>
          </p:cNvPr>
          <p:cNvSpPr>
            <a:spLocks noGrp="1"/>
          </p:cNvSpPr>
          <p:nvPr>
            <p:ph idx="1"/>
          </p:nvPr>
        </p:nvSpPr>
        <p:spPr/>
        <p:txBody>
          <a:bodyPr/>
          <a:lstStyle/>
          <a:p>
            <a:pPr marL="0" indent="0">
              <a:buNone/>
            </a:pPr>
            <a:r>
              <a:rPr lang="en-US" sz="2000" b="1" dirty="0"/>
              <a:t>Final Output &amp; Display Module</a:t>
            </a:r>
          </a:p>
          <a:p>
            <a:pPr marL="0" indent="0">
              <a:buNone/>
            </a:pPr>
            <a:endParaRPr lang="en-US" sz="2000" b="1" dirty="0"/>
          </a:p>
          <a:p>
            <a:r>
              <a:rPr lang="en-US" sz="2000" dirty="0"/>
              <a:t>Presents the </a:t>
            </a:r>
            <a:r>
              <a:rPr lang="en-US" sz="2000" b="1" dirty="0"/>
              <a:t>complete recipe</a:t>
            </a:r>
            <a:r>
              <a:rPr lang="en-US" sz="2000" dirty="0"/>
              <a:t> to the user in an organized format.</a:t>
            </a:r>
          </a:p>
          <a:p>
            <a:r>
              <a:rPr lang="en-US" sz="2000" dirty="0"/>
              <a:t>Includes:</a:t>
            </a:r>
          </a:p>
          <a:p>
            <a:pPr lvl="1"/>
            <a:r>
              <a:rPr lang="en-US" sz="2000" dirty="0"/>
              <a:t>Ingredient list.</a:t>
            </a:r>
          </a:p>
          <a:p>
            <a:pPr lvl="1"/>
            <a:r>
              <a:rPr lang="en-US" sz="2000" dirty="0"/>
              <a:t>Step-by-step cooking instructions.</a:t>
            </a:r>
          </a:p>
          <a:p>
            <a:pPr lvl="1"/>
            <a:r>
              <a:rPr lang="en-US" sz="2000" dirty="0"/>
              <a:t>Optional images or videos for better guidance.</a:t>
            </a:r>
          </a:p>
          <a:p>
            <a:r>
              <a:rPr lang="en-US" sz="2000" dirty="0"/>
              <a:t>Ensures the recipe is </a:t>
            </a:r>
            <a:r>
              <a:rPr lang="en-US" sz="2000" b="1" dirty="0"/>
              <a:t>display-ready</a:t>
            </a:r>
            <a:r>
              <a:rPr lang="en-US" sz="2000" dirty="0"/>
              <a:t> and user-friendly.</a:t>
            </a:r>
          </a:p>
          <a:p>
            <a:r>
              <a:rPr lang="en-US" sz="2000" b="1" dirty="0"/>
              <a:t>Input:</a:t>
            </a:r>
            <a:r>
              <a:rPr lang="en-US" sz="2000" dirty="0"/>
              <a:t> Refined recipe instructions from the Recipe Generation module.</a:t>
            </a:r>
          </a:p>
          <a:p>
            <a:r>
              <a:rPr lang="en-US" sz="2000" b="1" dirty="0"/>
              <a:t>Output:</a:t>
            </a:r>
            <a:r>
              <a:rPr lang="en-US" sz="2000" dirty="0"/>
              <a:t> Display-ready recipe with all details and multimedia elements.</a:t>
            </a:r>
          </a:p>
        </p:txBody>
      </p:sp>
      <p:sp>
        <p:nvSpPr>
          <p:cNvPr id="4" name="Date Placeholder 3">
            <a:extLst>
              <a:ext uri="{FF2B5EF4-FFF2-40B4-BE49-F238E27FC236}">
                <a16:creationId xmlns:a16="http://schemas.microsoft.com/office/drawing/2014/main" id="{48E5A655-492A-EED0-9DFA-DFF1C4F6F18F}"/>
              </a:ext>
            </a:extLst>
          </p:cNvPr>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a:extLst>
              <a:ext uri="{FF2B5EF4-FFF2-40B4-BE49-F238E27FC236}">
                <a16:creationId xmlns:a16="http://schemas.microsoft.com/office/drawing/2014/main" id="{E4E7C187-EF92-70F3-D84E-6A0C3E6C3866}"/>
              </a:ext>
            </a:extLst>
          </p:cNvPr>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a:extLst>
              <a:ext uri="{FF2B5EF4-FFF2-40B4-BE49-F238E27FC236}">
                <a16:creationId xmlns:a16="http://schemas.microsoft.com/office/drawing/2014/main" id="{B173C19B-A997-0771-E756-D9860776AD44}"/>
              </a:ext>
            </a:extLst>
          </p:cNvPr>
          <p:cNvSpPr>
            <a:spLocks noGrp="1"/>
          </p:cNvSpPr>
          <p:nvPr>
            <p:ph type="sldNum" sz="quarter" idx="12"/>
          </p:nvPr>
        </p:nvSpPr>
        <p:spPr/>
        <p:txBody>
          <a:bodyPr/>
          <a:lstStyle/>
          <a:p>
            <a:fld id="{5AB9ECBD-B4DD-40D5-8D24-9ECCDBB1583E}" type="slidenum">
              <a:rPr lang="en-IN" smtClean="0"/>
              <a:t>11</a:t>
            </a:fld>
            <a:endParaRPr lang="en-IN"/>
          </a:p>
        </p:txBody>
      </p:sp>
    </p:spTree>
    <p:extLst>
      <p:ext uri="{BB962C8B-B14F-4D97-AF65-F5344CB8AC3E}">
        <p14:creationId xmlns:p14="http://schemas.microsoft.com/office/powerpoint/2010/main" val="3152312318"/>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IN" sz="3200" b="1" dirty="0">
                <a:solidFill>
                  <a:srgbClr val="FF0000"/>
                </a:solidFill>
              </a:rPr>
              <a:t>Conclusion</a:t>
            </a:r>
          </a:p>
        </p:txBody>
      </p:sp>
      <p:sp>
        <p:nvSpPr>
          <p:cNvPr id="3" name="Content Placeholder 2"/>
          <p:cNvSpPr>
            <a:spLocks noGrp="1"/>
          </p:cNvSpPr>
          <p:nvPr>
            <p:ph idx="1"/>
          </p:nvPr>
        </p:nvSpPr>
        <p:spPr/>
        <p:txBody>
          <a:bodyPr/>
          <a:lstStyle/>
          <a:p>
            <a:pPr marL="0" lvl="0" indent="0" algn="just">
              <a:buClr>
                <a:srgbClr val="CC0000"/>
              </a:buClr>
              <a:buNone/>
              <a:defRPr/>
            </a:pPr>
            <a:r>
              <a:rPr lang="en-US" sz="1800" dirty="0"/>
              <a:t>This project demonstrates an effective </a:t>
            </a:r>
            <a:r>
              <a:rPr lang="en-US" sz="1800" b="1" dirty="0"/>
              <a:t>AI-based solution</a:t>
            </a:r>
            <a:r>
              <a:rPr lang="en-US" sz="1800" dirty="0"/>
              <a:t> for </a:t>
            </a:r>
            <a:r>
              <a:rPr lang="en-US" sz="1800" b="1" dirty="0"/>
              <a:t>real-time ingredient recognition</a:t>
            </a:r>
            <a:r>
              <a:rPr lang="en-US" sz="1800" dirty="0"/>
              <a:t> and </a:t>
            </a:r>
            <a:r>
              <a:rPr lang="en-US" sz="1800" b="1" dirty="0"/>
              <a:t>automated recipe generation</a:t>
            </a:r>
            <a:r>
              <a:rPr lang="en-US" sz="1800" dirty="0"/>
              <a:t>. By combining </a:t>
            </a:r>
            <a:r>
              <a:rPr lang="en-US" sz="1800" b="1" dirty="0"/>
              <a:t>computer vision</a:t>
            </a:r>
            <a:r>
              <a:rPr lang="en-US" sz="1800" dirty="0"/>
              <a:t> for detecting ingredients and </a:t>
            </a:r>
            <a:r>
              <a:rPr lang="en-US" sz="1800" b="1" dirty="0"/>
              <a:t>natural language processing</a:t>
            </a:r>
            <a:r>
              <a:rPr lang="en-US" sz="1800" dirty="0"/>
              <a:t> for creating personalized recipes, the system significantly </a:t>
            </a:r>
            <a:r>
              <a:rPr lang="en-US" sz="1800" b="1" dirty="0"/>
              <a:t>simplifies meal preparation</a:t>
            </a:r>
            <a:r>
              <a:rPr lang="en-US" sz="1800" dirty="0"/>
              <a:t>. It </a:t>
            </a:r>
            <a:r>
              <a:rPr lang="en-US" sz="1800" b="1" dirty="0"/>
              <a:t>reduces the need for manual ingredient input</a:t>
            </a:r>
            <a:r>
              <a:rPr lang="en-US" sz="1800" dirty="0"/>
              <a:t>, </a:t>
            </a:r>
            <a:r>
              <a:rPr lang="en-US" sz="1800" b="1" dirty="0"/>
              <a:t>minimizes food waste</a:t>
            </a:r>
            <a:r>
              <a:rPr lang="en-US" sz="1800" dirty="0"/>
              <a:t>, and </a:t>
            </a:r>
            <a:r>
              <a:rPr lang="en-US" sz="1800" b="1" dirty="0"/>
              <a:t>enhances user convenience</a:t>
            </a:r>
            <a:r>
              <a:rPr lang="en-US" sz="1800" dirty="0"/>
              <a:t> by offering </a:t>
            </a:r>
            <a:r>
              <a:rPr lang="en-US" sz="1800" b="1" dirty="0"/>
              <a:t>instant, smart recipe suggestions</a:t>
            </a:r>
            <a:r>
              <a:rPr lang="en-US" sz="1800" dirty="0"/>
              <a:t> based on available items. Overall, the system provides a </a:t>
            </a:r>
            <a:r>
              <a:rPr lang="en-US" sz="1800" b="1" dirty="0"/>
              <a:t>practical and intelligent tool</a:t>
            </a:r>
            <a:r>
              <a:rPr lang="en-US" sz="1800" dirty="0"/>
              <a:t> that supports </a:t>
            </a:r>
            <a:r>
              <a:rPr lang="en-US" sz="1800" b="1" dirty="0"/>
              <a:t>efficient, sustainable, and user-friendly cooking</a:t>
            </a:r>
            <a:r>
              <a:rPr lang="en-US" sz="1800" dirty="0"/>
              <a:t>.</a:t>
            </a:r>
            <a:endParaRPr kumimoji="0" lang="en-IN" altLang="en-US" sz="1800" b="0" i="0" u="none" strike="noStrike" kern="0" cap="none" spc="0" normalizeH="0" baseline="0" noProof="0" dirty="0">
              <a:ln>
                <a:noFill/>
              </a:ln>
              <a:solidFill>
                <a:srgbClr val="000000"/>
              </a:solidFill>
              <a:effectLst/>
              <a:uLnTx/>
              <a:uFillTx/>
              <a:latin typeface="Verdana" panose="020B0604030504040204"/>
              <a:ea typeface="+mn-ea"/>
              <a:cs typeface="+mn-cs"/>
            </a:endParaRPr>
          </a:p>
        </p:txBody>
      </p:sp>
      <p:sp>
        <p:nvSpPr>
          <p:cNvPr id="4" name="Date Placeholder 3"/>
          <p:cNvSpPr>
            <a:spLocks noGrp="1"/>
          </p:cNvSpPr>
          <p:nvPr>
            <p:ph type="dt" sz="half" idx="10"/>
          </p:nvPr>
        </p:nvSpPr>
        <p:spPr/>
        <p:txBody>
          <a:bodyPr/>
          <a:lstStyle/>
          <a:p>
            <a:r>
              <a:rPr lang="en-US" altLang="en-IN">
                <a:sym typeface="+mn-ea"/>
              </a:rPr>
              <a:t>End Sem</a:t>
            </a:r>
            <a:endParaRPr lang="en-US" altLang="en-IN"/>
          </a:p>
          <a:p>
            <a:endParaRPr lang="en-IN"/>
          </a:p>
        </p:txBody>
      </p:sp>
      <p:sp>
        <p:nvSpPr>
          <p:cNvPr id="5" name="Footer Placeholder 4"/>
          <p:cNvSpPr>
            <a:spLocks noGrp="1"/>
          </p:cNvSpPr>
          <p:nvPr>
            <p:ph type="ftr" sz="quarter" idx="11"/>
          </p:nvPr>
        </p:nvSpPr>
        <p:spPr/>
        <p:txBody>
          <a:bodyPr/>
          <a:lstStyle/>
          <a:p>
            <a:r>
              <a:rPr lang="en-US"/>
              <a:t>Department of </a:t>
            </a:r>
            <a:r>
              <a:rPr lang="en-US" altLang="en-IN" dirty="0">
                <a:solidFill>
                  <a:srgbClr val="002060"/>
                </a:solidFill>
                <a:latin typeface="Verdana" panose="020B0604030504040204" pitchFamily="34" charset="0"/>
                <a:sym typeface="+mn-ea"/>
              </a:rPr>
              <a:t>Artificial Intelligence and Data Science</a:t>
            </a:r>
            <a:endParaRPr lang="en-IN"/>
          </a:p>
        </p:txBody>
      </p:sp>
      <p:sp>
        <p:nvSpPr>
          <p:cNvPr id="6" name="Slide Number Placeholder 5"/>
          <p:cNvSpPr>
            <a:spLocks noGrp="1"/>
          </p:cNvSpPr>
          <p:nvPr>
            <p:ph type="sldNum" sz="quarter" idx="12"/>
          </p:nvPr>
        </p:nvSpPr>
        <p:spPr/>
        <p:txBody>
          <a:bodyPr/>
          <a:lstStyle/>
          <a:p>
            <a:fld id="{5AB9ECBD-B4DD-40D5-8D24-9ECCDBB1583E}" type="slidenum">
              <a:rPr lang="en-IN" smtClean="0"/>
              <a:t>12</a:t>
            </a:fld>
            <a:endParaRPr lang="en-IN"/>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200" y="3168074"/>
            <a:ext cx="10668000" cy="1216025"/>
          </a:xfrm>
        </p:spPr>
        <p:txBody>
          <a:bodyPr anchor="ctr"/>
          <a:lstStyle/>
          <a:p>
            <a:pPr algn="ctr"/>
            <a:r>
              <a:rPr lang="en-IN" altLang="en-US" sz="4000" b="1" dirty="0">
                <a:solidFill>
                  <a:srgbClr val="FF0000"/>
                </a:solidFill>
              </a:rPr>
              <a:t>Thank You</a:t>
            </a:r>
            <a:endParaRPr lang="en-IN" dirty="0"/>
          </a:p>
        </p:txBody>
      </p:sp>
      <p:sp>
        <p:nvSpPr>
          <p:cNvPr id="3" name="Footer Placeholder 2"/>
          <p:cNvSpPr>
            <a:spLocks noGrp="1"/>
          </p:cNvSpPr>
          <p:nvPr>
            <p:ph type="ftr" sz="quarter" idx="11"/>
          </p:nvPr>
        </p:nvSpPr>
        <p:spPr/>
        <p:txBody>
          <a:bodyPr/>
          <a:lstStyle/>
          <a:p>
            <a:pPr>
              <a:defRPr/>
            </a:pPr>
            <a:r>
              <a:rPr lang="en-US">
                <a:sym typeface="+mn-ea"/>
              </a:rPr>
              <a:t>Department of </a:t>
            </a:r>
            <a:r>
              <a:rPr lang="en-US" altLang="en-IN" dirty="0">
                <a:solidFill>
                  <a:srgbClr val="002060"/>
                </a:solidFill>
                <a:latin typeface="Verdana" panose="020B0604030504040204" pitchFamily="34" charset="0"/>
                <a:sym typeface="+mn-ea"/>
              </a:rPr>
              <a:t>Artificial Intelligence and Data Science</a:t>
            </a:r>
            <a:endParaRPr lang="en-IN"/>
          </a:p>
          <a:p>
            <a:pPr>
              <a:defRPr/>
            </a:pPr>
            <a:endParaRPr lang="en-US"/>
          </a:p>
        </p:txBody>
      </p:sp>
      <p:sp>
        <p:nvSpPr>
          <p:cNvPr id="4" name="Slide Number Placeholder 3"/>
          <p:cNvSpPr>
            <a:spLocks noGrp="1"/>
          </p:cNvSpPr>
          <p:nvPr>
            <p:ph type="sldNum" sz="quarter" idx="12"/>
          </p:nvPr>
        </p:nvSpPr>
        <p:spPr/>
        <p:txBody>
          <a:bodyPr/>
          <a:lstStyle/>
          <a:p>
            <a:pPr>
              <a:defRPr/>
            </a:pPr>
            <a:fld id="{F583B680-F650-469F-A231-392F163461F6}" type="slidenum">
              <a:rPr lang="en-US" altLang="en-US" smtClean="0"/>
              <a:t>13</a:t>
            </a:fld>
            <a:endParaRPr lang="en-US" altLang="en-US" dirty="0"/>
          </a:p>
        </p:txBody>
      </p:sp>
      <p:sp>
        <p:nvSpPr>
          <p:cNvPr id="5" name="Date Placeholder 4"/>
          <p:cNvSpPr>
            <a:spLocks noGrp="1"/>
          </p:cNvSpPr>
          <p:nvPr>
            <p:ph type="dt" sz="half" idx="10"/>
          </p:nvPr>
        </p:nvSpPr>
        <p:spPr/>
        <p:txBody>
          <a:bodyPr/>
          <a:lstStyle/>
          <a:p>
            <a:pPr>
              <a:defRPr/>
            </a:pPr>
            <a:r>
              <a:rPr lang="en-US" altLang="en-IN">
                <a:sym typeface="+mn-ea"/>
              </a:rPr>
              <a:t>End Sem</a:t>
            </a:r>
            <a:endParaRPr lang="en-US" altLang="en-IN"/>
          </a:p>
          <a:p>
            <a:pPr>
              <a:defRPr/>
            </a:pPr>
            <a:endParaRPr lang="en-US"/>
          </a:p>
        </p:txBody>
      </p:sp>
    </p:spTree>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Verdana" panose="020B0604030504040204"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2.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3.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4.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5.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6.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7.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8.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9.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0.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2.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docProps/app.xml><?xml version="1.0" encoding="utf-8"?>
<Properties xmlns="http://schemas.openxmlformats.org/officeDocument/2006/extended-properties" xmlns:vt="http://schemas.openxmlformats.org/officeDocument/2006/docPropsVTypes">
  <TotalTime>60</TotalTime>
  <Words>1093</Words>
  <Application>Microsoft Office PowerPoint</Application>
  <PresentationFormat>Widescreen</PresentationFormat>
  <Paragraphs>133</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Calibri</vt:lpstr>
      <vt:lpstr>Google Sans Text</vt:lpstr>
      <vt:lpstr>Verdana</vt:lpstr>
      <vt:lpstr>Wingdings</vt:lpstr>
      <vt:lpstr>Profile</vt:lpstr>
      <vt:lpstr>PowerPoint Presentation</vt:lpstr>
      <vt:lpstr>Problem Statement and Motivation</vt:lpstr>
      <vt:lpstr>Existing System</vt:lpstr>
      <vt:lpstr>Objectives</vt:lpstr>
      <vt:lpstr>Abstract</vt:lpstr>
      <vt:lpstr>Architecture(framework)</vt:lpstr>
      <vt:lpstr>Architecture(framework)</vt:lpstr>
      <vt:lpstr>Module</vt:lpstr>
      <vt:lpstr>Module</vt:lpstr>
      <vt:lpstr>Module</vt:lpstr>
      <vt:lpstr>Module</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DURAI MURUGAN N</dc:creator>
  <cp:lastModifiedBy>Santhosh B</cp:lastModifiedBy>
  <cp:revision>10</cp:revision>
  <dcterms:created xsi:type="dcterms:W3CDTF">2025-11-22T14:54:41Z</dcterms:created>
  <dcterms:modified xsi:type="dcterms:W3CDTF">2025-11-24T08:25:54Z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1033-5.0.0.7908</vt:lpwstr>
  </property>
</Properties>
</file>